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85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FA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28699" y="3103742"/>
            <a:ext cx="7721600" cy="5187950"/>
          </a:xfrm>
          <a:custGeom>
            <a:avLst/>
            <a:gdLst/>
            <a:ahLst/>
            <a:cxnLst/>
            <a:rect l="l" t="t" r="r" b="b"/>
            <a:pathLst>
              <a:path w="7721600" h="5187950">
                <a:moveTo>
                  <a:pt x="7571873" y="5187945"/>
                </a:moveTo>
                <a:lnTo>
                  <a:pt x="152400" y="5187945"/>
                </a:lnTo>
                <a:lnTo>
                  <a:pt x="104229" y="5180176"/>
                </a:lnTo>
                <a:lnTo>
                  <a:pt x="62394" y="5158541"/>
                </a:lnTo>
                <a:lnTo>
                  <a:pt x="29404" y="5125551"/>
                </a:lnTo>
                <a:lnTo>
                  <a:pt x="7769" y="5083716"/>
                </a:lnTo>
                <a:lnTo>
                  <a:pt x="0" y="5035546"/>
                </a:lnTo>
                <a:lnTo>
                  <a:pt x="0" y="152400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7571873" y="0"/>
                </a:lnTo>
                <a:lnTo>
                  <a:pt x="7620043" y="7769"/>
                </a:lnTo>
                <a:lnTo>
                  <a:pt x="7661878" y="29404"/>
                </a:lnTo>
                <a:lnTo>
                  <a:pt x="7694868" y="62394"/>
                </a:lnTo>
                <a:lnTo>
                  <a:pt x="7716503" y="104229"/>
                </a:lnTo>
                <a:lnTo>
                  <a:pt x="7721122" y="132865"/>
                </a:lnTo>
                <a:lnTo>
                  <a:pt x="7721122" y="5055080"/>
                </a:lnTo>
                <a:lnTo>
                  <a:pt x="7694868" y="5125551"/>
                </a:lnTo>
                <a:lnTo>
                  <a:pt x="7661878" y="5158541"/>
                </a:lnTo>
                <a:lnTo>
                  <a:pt x="7620043" y="5180176"/>
                </a:lnTo>
                <a:lnTo>
                  <a:pt x="7571873" y="5187945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788448" y="3103742"/>
            <a:ext cx="7944484" cy="5187950"/>
          </a:xfrm>
          <a:custGeom>
            <a:avLst/>
            <a:gdLst/>
            <a:ahLst/>
            <a:cxnLst/>
            <a:rect l="l" t="t" r="r" b="b"/>
            <a:pathLst>
              <a:path w="7944484" h="5187950">
                <a:moveTo>
                  <a:pt x="7793241" y="5187945"/>
                </a:moveTo>
                <a:lnTo>
                  <a:pt x="152400" y="5187945"/>
                </a:lnTo>
                <a:lnTo>
                  <a:pt x="104229" y="5180176"/>
                </a:lnTo>
                <a:lnTo>
                  <a:pt x="62394" y="5158541"/>
                </a:lnTo>
                <a:lnTo>
                  <a:pt x="29404" y="5125551"/>
                </a:lnTo>
                <a:lnTo>
                  <a:pt x="7769" y="5083716"/>
                </a:lnTo>
                <a:lnTo>
                  <a:pt x="0" y="5035546"/>
                </a:lnTo>
                <a:lnTo>
                  <a:pt x="0" y="152400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7793241" y="0"/>
                </a:lnTo>
                <a:lnTo>
                  <a:pt x="7841411" y="7769"/>
                </a:lnTo>
                <a:lnTo>
                  <a:pt x="7883246" y="29404"/>
                </a:lnTo>
                <a:lnTo>
                  <a:pt x="7916236" y="62394"/>
                </a:lnTo>
                <a:lnTo>
                  <a:pt x="7937871" y="104229"/>
                </a:lnTo>
                <a:lnTo>
                  <a:pt x="7944041" y="142484"/>
                </a:lnTo>
                <a:lnTo>
                  <a:pt x="7944041" y="5045461"/>
                </a:lnTo>
                <a:lnTo>
                  <a:pt x="7937871" y="5083716"/>
                </a:lnTo>
                <a:lnTo>
                  <a:pt x="7916236" y="5125551"/>
                </a:lnTo>
                <a:lnTo>
                  <a:pt x="7883246" y="5158541"/>
                </a:lnTo>
                <a:lnTo>
                  <a:pt x="7841411" y="5180176"/>
                </a:lnTo>
                <a:lnTo>
                  <a:pt x="7793241" y="5187945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53909" y="8685498"/>
            <a:ext cx="1145540" cy="1145540"/>
          </a:xfrm>
          <a:custGeom>
            <a:avLst/>
            <a:gdLst/>
            <a:ahLst/>
            <a:cxnLst/>
            <a:rect l="l" t="t" r="r" b="b"/>
            <a:pathLst>
              <a:path w="1145539" h="1145540">
                <a:moveTo>
                  <a:pt x="1145464" y="1145464"/>
                </a:moveTo>
                <a:lnTo>
                  <a:pt x="1063580" y="1145464"/>
                </a:lnTo>
                <a:lnTo>
                  <a:pt x="1063580" y="139778"/>
                </a:lnTo>
                <a:lnTo>
                  <a:pt x="58284" y="1145065"/>
                </a:lnTo>
                <a:lnTo>
                  <a:pt x="389" y="1087170"/>
                </a:lnTo>
                <a:lnTo>
                  <a:pt x="1005684" y="81884"/>
                </a:lnTo>
                <a:lnTo>
                  <a:pt x="0" y="81884"/>
                </a:lnTo>
                <a:lnTo>
                  <a:pt x="0" y="0"/>
                </a:lnTo>
                <a:lnTo>
                  <a:pt x="1145464" y="0"/>
                </a:lnTo>
                <a:lnTo>
                  <a:pt x="1145464" y="1145464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FA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265144"/>
            <a:ext cx="15498695" cy="1666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540" y="2132640"/>
            <a:ext cx="17310735" cy="679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7520285" cy="10287000"/>
            </a:xfrm>
            <a:custGeom>
              <a:avLst/>
              <a:gdLst/>
              <a:ahLst/>
              <a:cxnLst/>
              <a:rect l="l" t="t" r="r" b="b"/>
              <a:pathLst>
                <a:path w="17520285" h="10287000">
                  <a:moveTo>
                    <a:pt x="0" y="10286999"/>
                  </a:moveTo>
                  <a:lnTo>
                    <a:pt x="17519830" y="10286999"/>
                  </a:lnTo>
                  <a:lnTo>
                    <a:pt x="17519830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6FA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2816" y="1387516"/>
              <a:ext cx="6295344" cy="718294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519831" y="0"/>
              <a:ext cx="768350" cy="10287000"/>
            </a:xfrm>
            <a:custGeom>
              <a:avLst/>
              <a:gdLst/>
              <a:ahLst/>
              <a:cxnLst/>
              <a:rect l="l" t="t" r="r" b="b"/>
              <a:pathLst>
                <a:path w="768350" h="10287000">
                  <a:moveTo>
                    <a:pt x="768168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768168" y="0"/>
                  </a:lnTo>
                  <a:lnTo>
                    <a:pt x="768168" y="10286999"/>
                  </a:lnTo>
                  <a:close/>
                </a:path>
              </a:pathLst>
            </a:custGeom>
            <a:solidFill>
              <a:srgbClr val="EFF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16074" y="2764265"/>
            <a:ext cx="8021320" cy="279336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213610" marR="5080" indent="-2201545">
              <a:lnSpc>
                <a:spcPts val="10880"/>
              </a:lnSpc>
              <a:spcBef>
                <a:spcPts val="295"/>
              </a:spcBef>
            </a:pPr>
            <a:r>
              <a:rPr sz="9100" dirty="0"/>
              <a:t>Banking</a:t>
            </a:r>
            <a:r>
              <a:rPr sz="9100" spc="-240" dirty="0"/>
              <a:t> </a:t>
            </a:r>
            <a:r>
              <a:rPr sz="9100" spc="-10" dirty="0"/>
              <a:t>System Project</a:t>
            </a:r>
            <a:endParaRPr sz="9100"/>
          </a:p>
        </p:txBody>
      </p:sp>
      <p:sp>
        <p:nvSpPr>
          <p:cNvPr id="7" name="object 7"/>
          <p:cNvSpPr txBox="1"/>
          <p:nvPr/>
        </p:nvSpPr>
        <p:spPr>
          <a:xfrm>
            <a:off x="1365382" y="7422154"/>
            <a:ext cx="7774940" cy="1535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523240" algn="l">
              <a:lnSpc>
                <a:spcPct val="100000"/>
              </a:lnSpc>
              <a:spcBef>
                <a:spcPts val="110"/>
              </a:spcBef>
            </a:pP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Tayyorlagan:</a:t>
            </a:r>
            <a:r>
              <a:rPr sz="3300" b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Habibullo</a:t>
            </a:r>
            <a:r>
              <a:rPr sz="33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Xayrullayev 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300" b="1" dirty="0" err="1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300" b="1" dirty="0" err="1">
                <a:latin typeface="Times New Roman" panose="02020603050405020304"/>
                <a:cs typeface="Times New Roman" panose="02020603050405020304"/>
              </a:rPr>
              <a:t>o‘nalish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: MSSQL</a:t>
            </a:r>
            <a:r>
              <a:rPr sz="3300" b="1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latin typeface="Times New Roman" panose="02020603050405020304"/>
                <a:cs typeface="Times New Roman" panose="02020603050405020304"/>
              </a:rPr>
              <a:t>/ Database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Project</a:t>
            </a:r>
            <a:endParaRPr sz="3300" dirty="0">
              <a:latin typeface="Times New Roman" panose="02020603050405020304"/>
              <a:cs typeface="Times New Roman" panose="02020603050405020304"/>
            </a:endParaRPr>
          </a:p>
          <a:p>
            <a:pPr marL="2374265" algn="l">
              <a:lnSpc>
                <a:spcPts val="3955"/>
              </a:lnSpc>
            </a:pPr>
            <a:r>
              <a:rPr sz="3300" b="1" dirty="0">
                <a:latin typeface="Times New Roman" panose="02020603050405020304"/>
                <a:cs typeface="Times New Roman" panose="02020603050405020304"/>
              </a:rPr>
              <a:t>Sana: </a:t>
            </a:r>
            <a:r>
              <a:rPr sz="3300" b="1" spc="-10" dirty="0">
                <a:latin typeface="Times New Roman" panose="02020603050405020304"/>
                <a:cs typeface="Times New Roman" panose="02020603050405020304"/>
              </a:rPr>
              <a:t>25.06.2026</a:t>
            </a:r>
            <a:endParaRPr sz="33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8066" y="4601425"/>
            <a:ext cx="6906259" cy="4282440"/>
            <a:chOff x="728066" y="4601425"/>
            <a:chExt cx="6906259" cy="4282440"/>
          </a:xfrm>
        </p:grpSpPr>
        <p:sp>
          <p:nvSpPr>
            <p:cNvPr id="3" name="object 3"/>
            <p:cNvSpPr/>
            <p:nvPr/>
          </p:nvSpPr>
          <p:spPr>
            <a:xfrm>
              <a:off x="1814020" y="4608621"/>
              <a:ext cx="5575300" cy="3296920"/>
            </a:xfrm>
            <a:custGeom>
              <a:avLst/>
              <a:gdLst/>
              <a:ahLst/>
              <a:cxnLst/>
              <a:rect l="l" t="t" r="r" b="b"/>
              <a:pathLst>
                <a:path w="5575300" h="3296920">
                  <a:moveTo>
                    <a:pt x="5326971" y="3296748"/>
                  </a:moveTo>
                  <a:lnTo>
                    <a:pt x="248244" y="3296748"/>
                  </a:lnTo>
                  <a:lnTo>
                    <a:pt x="198376" y="3291681"/>
                  </a:lnTo>
                  <a:lnTo>
                    <a:pt x="151853" y="3277161"/>
                  </a:lnTo>
                  <a:lnTo>
                    <a:pt x="109695" y="3254203"/>
                  </a:lnTo>
                  <a:lnTo>
                    <a:pt x="72919" y="3223828"/>
                  </a:lnTo>
                  <a:lnTo>
                    <a:pt x="42544" y="3187052"/>
                  </a:lnTo>
                  <a:lnTo>
                    <a:pt x="19587" y="3144894"/>
                  </a:lnTo>
                  <a:lnTo>
                    <a:pt x="5066" y="3098372"/>
                  </a:lnTo>
                  <a:lnTo>
                    <a:pt x="0" y="3048503"/>
                  </a:lnTo>
                  <a:lnTo>
                    <a:pt x="0" y="248244"/>
                  </a:lnTo>
                  <a:lnTo>
                    <a:pt x="5066" y="198375"/>
                  </a:lnTo>
                  <a:lnTo>
                    <a:pt x="19587" y="151853"/>
                  </a:lnTo>
                  <a:lnTo>
                    <a:pt x="42544" y="109695"/>
                  </a:lnTo>
                  <a:lnTo>
                    <a:pt x="72919" y="72919"/>
                  </a:lnTo>
                  <a:lnTo>
                    <a:pt x="109695" y="42544"/>
                  </a:lnTo>
                  <a:lnTo>
                    <a:pt x="151853" y="19587"/>
                  </a:lnTo>
                  <a:lnTo>
                    <a:pt x="198376" y="5066"/>
                  </a:lnTo>
                  <a:lnTo>
                    <a:pt x="248244" y="0"/>
                  </a:lnTo>
                  <a:lnTo>
                    <a:pt x="5326971" y="0"/>
                  </a:lnTo>
                  <a:lnTo>
                    <a:pt x="5376840" y="5066"/>
                  </a:lnTo>
                  <a:lnTo>
                    <a:pt x="5423362" y="19587"/>
                  </a:lnTo>
                  <a:lnTo>
                    <a:pt x="5465520" y="42544"/>
                  </a:lnTo>
                  <a:lnTo>
                    <a:pt x="5502296" y="72919"/>
                  </a:lnTo>
                  <a:lnTo>
                    <a:pt x="5532671" y="109695"/>
                  </a:lnTo>
                  <a:lnTo>
                    <a:pt x="5555628" y="151853"/>
                  </a:lnTo>
                  <a:lnTo>
                    <a:pt x="5570149" y="198375"/>
                  </a:lnTo>
                  <a:lnTo>
                    <a:pt x="5575216" y="248244"/>
                  </a:lnTo>
                  <a:lnTo>
                    <a:pt x="5575216" y="3048503"/>
                  </a:lnTo>
                  <a:lnTo>
                    <a:pt x="5570149" y="3098372"/>
                  </a:lnTo>
                  <a:lnTo>
                    <a:pt x="5555628" y="3144894"/>
                  </a:lnTo>
                  <a:lnTo>
                    <a:pt x="5532671" y="3187052"/>
                  </a:lnTo>
                  <a:lnTo>
                    <a:pt x="5502296" y="3223828"/>
                  </a:lnTo>
                  <a:lnTo>
                    <a:pt x="5465520" y="3254203"/>
                  </a:lnTo>
                  <a:lnTo>
                    <a:pt x="5423362" y="3277161"/>
                  </a:lnTo>
                  <a:lnTo>
                    <a:pt x="5376840" y="3291681"/>
                  </a:lnTo>
                  <a:lnTo>
                    <a:pt x="5326971" y="3296748"/>
                  </a:lnTo>
                  <a:close/>
                </a:path>
              </a:pathLst>
            </a:custGeom>
            <a:solidFill>
              <a:srgbClr val="6FA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06816" y="4601437"/>
              <a:ext cx="5589905" cy="4036060"/>
            </a:xfrm>
            <a:custGeom>
              <a:avLst/>
              <a:gdLst/>
              <a:ahLst/>
              <a:cxnLst/>
              <a:rect l="l" t="t" r="r" b="b"/>
              <a:pathLst>
                <a:path w="5589905" h="4036059">
                  <a:moveTo>
                    <a:pt x="5589613" y="255435"/>
                  </a:moveTo>
                  <a:lnTo>
                    <a:pt x="5584393" y="204114"/>
                  </a:lnTo>
                  <a:lnTo>
                    <a:pt x="5575224" y="174739"/>
                  </a:lnTo>
                  <a:lnTo>
                    <a:pt x="5575224" y="255435"/>
                  </a:lnTo>
                  <a:lnTo>
                    <a:pt x="5575224" y="2688259"/>
                  </a:lnTo>
                  <a:lnTo>
                    <a:pt x="3485896" y="2688259"/>
                  </a:lnTo>
                  <a:lnTo>
                    <a:pt x="3485896" y="3311131"/>
                  </a:lnTo>
                  <a:lnTo>
                    <a:pt x="3485896" y="4021556"/>
                  </a:lnTo>
                  <a:lnTo>
                    <a:pt x="2103742" y="4021556"/>
                  </a:lnTo>
                  <a:lnTo>
                    <a:pt x="2103742" y="3311131"/>
                  </a:lnTo>
                  <a:lnTo>
                    <a:pt x="3485896" y="3311131"/>
                  </a:lnTo>
                  <a:lnTo>
                    <a:pt x="3485896" y="2688259"/>
                  </a:lnTo>
                  <a:lnTo>
                    <a:pt x="14389" y="2688259"/>
                  </a:lnTo>
                  <a:lnTo>
                    <a:pt x="14389" y="255435"/>
                  </a:lnTo>
                  <a:lnTo>
                    <a:pt x="19316" y="207010"/>
                  </a:lnTo>
                  <a:lnTo>
                    <a:pt x="33426" y="161836"/>
                  </a:lnTo>
                  <a:lnTo>
                    <a:pt x="55727" y="120904"/>
                  </a:lnTo>
                  <a:lnTo>
                    <a:pt x="85204" y="85204"/>
                  </a:lnTo>
                  <a:lnTo>
                    <a:pt x="120916" y="55702"/>
                  </a:lnTo>
                  <a:lnTo>
                    <a:pt x="161848" y="33413"/>
                  </a:lnTo>
                  <a:lnTo>
                    <a:pt x="207022" y="19304"/>
                  </a:lnTo>
                  <a:lnTo>
                    <a:pt x="255447" y="14389"/>
                  </a:lnTo>
                  <a:lnTo>
                    <a:pt x="5334165" y="14389"/>
                  </a:lnTo>
                  <a:lnTo>
                    <a:pt x="5382577" y="19304"/>
                  </a:lnTo>
                  <a:lnTo>
                    <a:pt x="5427751" y="33413"/>
                  </a:lnTo>
                  <a:lnTo>
                    <a:pt x="5468683" y="55702"/>
                  </a:lnTo>
                  <a:lnTo>
                    <a:pt x="5504408" y="85204"/>
                  </a:lnTo>
                  <a:lnTo>
                    <a:pt x="5533898" y="120904"/>
                  </a:lnTo>
                  <a:lnTo>
                    <a:pt x="5556199" y="161836"/>
                  </a:lnTo>
                  <a:lnTo>
                    <a:pt x="5570296" y="207010"/>
                  </a:lnTo>
                  <a:lnTo>
                    <a:pt x="5575224" y="255435"/>
                  </a:lnTo>
                  <a:lnTo>
                    <a:pt x="5575224" y="174739"/>
                  </a:lnTo>
                  <a:lnTo>
                    <a:pt x="5545836" y="112864"/>
                  </a:lnTo>
                  <a:lnTo>
                    <a:pt x="5514581" y="75018"/>
                  </a:lnTo>
                  <a:lnTo>
                    <a:pt x="5476748" y="43764"/>
                  </a:lnTo>
                  <a:lnTo>
                    <a:pt x="5433365" y="20142"/>
                  </a:lnTo>
                  <a:lnTo>
                    <a:pt x="5414899" y="14389"/>
                  </a:lnTo>
                  <a:lnTo>
                    <a:pt x="5385486" y="5207"/>
                  </a:lnTo>
                  <a:lnTo>
                    <a:pt x="5334165" y="0"/>
                  </a:lnTo>
                  <a:lnTo>
                    <a:pt x="255447" y="0"/>
                  </a:lnTo>
                  <a:lnTo>
                    <a:pt x="204127" y="5207"/>
                  </a:lnTo>
                  <a:lnTo>
                    <a:pt x="156260" y="20142"/>
                  </a:lnTo>
                  <a:lnTo>
                    <a:pt x="112877" y="43764"/>
                  </a:lnTo>
                  <a:lnTo>
                    <a:pt x="75031" y="75018"/>
                  </a:lnTo>
                  <a:lnTo>
                    <a:pt x="43776" y="112864"/>
                  </a:lnTo>
                  <a:lnTo>
                    <a:pt x="20154" y="156248"/>
                  </a:lnTo>
                  <a:lnTo>
                    <a:pt x="5219" y="204114"/>
                  </a:lnTo>
                  <a:lnTo>
                    <a:pt x="0" y="255435"/>
                  </a:lnTo>
                  <a:lnTo>
                    <a:pt x="0" y="2691485"/>
                  </a:lnTo>
                  <a:lnTo>
                    <a:pt x="0" y="3055696"/>
                  </a:lnTo>
                  <a:lnTo>
                    <a:pt x="5207" y="3107004"/>
                  </a:lnTo>
                  <a:lnTo>
                    <a:pt x="20142" y="3154870"/>
                  </a:lnTo>
                  <a:lnTo>
                    <a:pt x="43764" y="3198253"/>
                  </a:lnTo>
                  <a:lnTo>
                    <a:pt x="75031" y="3236112"/>
                  </a:lnTo>
                  <a:lnTo>
                    <a:pt x="112877" y="3267367"/>
                  </a:lnTo>
                  <a:lnTo>
                    <a:pt x="156260" y="3290976"/>
                  </a:lnTo>
                  <a:lnTo>
                    <a:pt x="204127" y="3305924"/>
                  </a:lnTo>
                  <a:lnTo>
                    <a:pt x="255447" y="3311131"/>
                  </a:lnTo>
                  <a:lnTo>
                    <a:pt x="2089353" y="3311131"/>
                  </a:lnTo>
                  <a:lnTo>
                    <a:pt x="2089353" y="4032720"/>
                  </a:lnTo>
                  <a:lnTo>
                    <a:pt x="2092566" y="4035945"/>
                  </a:lnTo>
                  <a:lnTo>
                    <a:pt x="3497059" y="4035945"/>
                  </a:lnTo>
                  <a:lnTo>
                    <a:pt x="3500285" y="4032720"/>
                  </a:lnTo>
                  <a:lnTo>
                    <a:pt x="3500285" y="4021556"/>
                  </a:lnTo>
                  <a:lnTo>
                    <a:pt x="3500285" y="3311131"/>
                  </a:lnTo>
                  <a:lnTo>
                    <a:pt x="5334139" y="3311131"/>
                  </a:lnTo>
                  <a:lnTo>
                    <a:pt x="5385498" y="3305924"/>
                  </a:lnTo>
                  <a:lnTo>
                    <a:pt x="5433365" y="3290976"/>
                  </a:lnTo>
                  <a:lnTo>
                    <a:pt x="5476748" y="3267367"/>
                  </a:lnTo>
                  <a:lnTo>
                    <a:pt x="5514581" y="3236112"/>
                  </a:lnTo>
                  <a:lnTo>
                    <a:pt x="5545836" y="3198253"/>
                  </a:lnTo>
                  <a:lnTo>
                    <a:pt x="5569458" y="3154870"/>
                  </a:lnTo>
                  <a:lnTo>
                    <a:pt x="5584393" y="3107004"/>
                  </a:lnTo>
                  <a:lnTo>
                    <a:pt x="5589613" y="3055696"/>
                  </a:lnTo>
                  <a:lnTo>
                    <a:pt x="5589613" y="255435"/>
                  </a:lnTo>
                  <a:close/>
                </a:path>
              </a:pathLst>
            </a:custGeom>
            <a:solidFill>
              <a:srgbClr val="EFF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03369" y="7905370"/>
              <a:ext cx="1397000" cy="329565"/>
            </a:xfrm>
            <a:custGeom>
              <a:avLst/>
              <a:gdLst/>
              <a:ahLst/>
              <a:cxnLst/>
              <a:rect l="l" t="t" r="r" b="b"/>
              <a:pathLst>
                <a:path w="1397000" h="329565">
                  <a:moveTo>
                    <a:pt x="0" y="329555"/>
                  </a:moveTo>
                  <a:lnTo>
                    <a:pt x="0" y="0"/>
                  </a:lnTo>
                  <a:lnTo>
                    <a:pt x="1396518" y="0"/>
                  </a:lnTo>
                  <a:lnTo>
                    <a:pt x="1396518" y="122303"/>
                  </a:lnTo>
                  <a:lnTo>
                    <a:pt x="0" y="329555"/>
                  </a:lnTo>
                  <a:close/>
                </a:path>
              </a:pathLst>
            </a:custGeom>
            <a:solidFill>
              <a:srgbClr val="EFF1E7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46309" y="8622994"/>
              <a:ext cx="1910714" cy="213995"/>
            </a:xfrm>
            <a:custGeom>
              <a:avLst/>
              <a:gdLst/>
              <a:ahLst/>
              <a:cxnLst/>
              <a:rect l="l" t="t" r="r" b="b"/>
              <a:pathLst>
                <a:path w="1910714" h="213995">
                  <a:moveTo>
                    <a:pt x="1910600" y="3213"/>
                  </a:moveTo>
                  <a:lnTo>
                    <a:pt x="1907374" y="0"/>
                  </a:lnTo>
                  <a:lnTo>
                    <a:pt x="3225" y="0"/>
                  </a:lnTo>
                  <a:lnTo>
                    <a:pt x="0" y="3213"/>
                  </a:lnTo>
                  <a:lnTo>
                    <a:pt x="0" y="210654"/>
                  </a:lnTo>
                  <a:lnTo>
                    <a:pt x="3225" y="213868"/>
                  </a:lnTo>
                  <a:lnTo>
                    <a:pt x="1907374" y="213868"/>
                  </a:lnTo>
                  <a:lnTo>
                    <a:pt x="1910600" y="210654"/>
                  </a:lnTo>
                  <a:lnTo>
                    <a:pt x="1910600" y="199478"/>
                  </a:lnTo>
                  <a:lnTo>
                    <a:pt x="1910600" y="14363"/>
                  </a:lnTo>
                  <a:lnTo>
                    <a:pt x="1910600" y="3213"/>
                  </a:lnTo>
                  <a:close/>
                </a:path>
              </a:pathLst>
            </a:custGeom>
            <a:solidFill>
              <a:srgbClr val="EFF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6741" y="6770578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5" h="330834">
                  <a:moveTo>
                    <a:pt x="330594" y="330594"/>
                  </a:moveTo>
                  <a:lnTo>
                    <a:pt x="0" y="330594"/>
                  </a:lnTo>
                  <a:lnTo>
                    <a:pt x="0" y="0"/>
                  </a:lnTo>
                  <a:lnTo>
                    <a:pt x="330594" y="0"/>
                  </a:lnTo>
                  <a:lnTo>
                    <a:pt x="330594" y="330594"/>
                  </a:lnTo>
                  <a:close/>
                </a:path>
              </a:pathLst>
            </a:custGeom>
            <a:solidFill>
              <a:srgbClr val="6FA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9543" y="6738378"/>
              <a:ext cx="1464310" cy="370205"/>
            </a:xfrm>
            <a:custGeom>
              <a:avLst/>
              <a:gdLst/>
              <a:ahLst/>
              <a:cxnLst/>
              <a:rect l="l" t="t" r="r" b="b"/>
              <a:pathLst>
                <a:path w="1464310" h="370204">
                  <a:moveTo>
                    <a:pt x="389534" y="10096"/>
                  </a:moveTo>
                  <a:lnTo>
                    <a:pt x="389483" y="5549"/>
                  </a:lnTo>
                  <a:lnTo>
                    <a:pt x="383870" y="0"/>
                  </a:lnTo>
                  <a:lnTo>
                    <a:pt x="379323" y="50"/>
                  </a:lnTo>
                  <a:lnTo>
                    <a:pt x="344982" y="34963"/>
                  </a:lnTo>
                  <a:lnTo>
                    <a:pt x="344982" y="28232"/>
                  </a:lnTo>
                  <a:lnTo>
                    <a:pt x="341757" y="25006"/>
                  </a:lnTo>
                  <a:lnTo>
                    <a:pt x="330593" y="25006"/>
                  </a:lnTo>
                  <a:lnTo>
                    <a:pt x="330593" y="39408"/>
                  </a:lnTo>
                  <a:lnTo>
                    <a:pt x="330593" y="49593"/>
                  </a:lnTo>
                  <a:lnTo>
                    <a:pt x="152387" y="230759"/>
                  </a:lnTo>
                  <a:lnTo>
                    <a:pt x="70675" y="123050"/>
                  </a:lnTo>
                  <a:lnTo>
                    <a:pt x="66192" y="122428"/>
                  </a:lnTo>
                  <a:lnTo>
                    <a:pt x="59905" y="127203"/>
                  </a:lnTo>
                  <a:lnTo>
                    <a:pt x="59270" y="131699"/>
                  </a:lnTo>
                  <a:lnTo>
                    <a:pt x="61671" y="134848"/>
                  </a:lnTo>
                  <a:lnTo>
                    <a:pt x="148361" y="249148"/>
                  </a:lnTo>
                  <a:lnTo>
                    <a:pt x="152844" y="249770"/>
                  </a:lnTo>
                  <a:lnTo>
                    <a:pt x="155994" y="247383"/>
                  </a:lnTo>
                  <a:lnTo>
                    <a:pt x="156768" y="246710"/>
                  </a:lnTo>
                  <a:lnTo>
                    <a:pt x="330593" y="70015"/>
                  </a:lnTo>
                  <a:lnTo>
                    <a:pt x="330593" y="355600"/>
                  </a:lnTo>
                  <a:lnTo>
                    <a:pt x="14389" y="355600"/>
                  </a:lnTo>
                  <a:lnTo>
                    <a:pt x="14389" y="39408"/>
                  </a:lnTo>
                  <a:lnTo>
                    <a:pt x="330593" y="39408"/>
                  </a:lnTo>
                  <a:lnTo>
                    <a:pt x="330593" y="25006"/>
                  </a:lnTo>
                  <a:lnTo>
                    <a:pt x="3213" y="25006"/>
                  </a:lnTo>
                  <a:lnTo>
                    <a:pt x="0" y="28232"/>
                  </a:lnTo>
                  <a:lnTo>
                    <a:pt x="0" y="366776"/>
                  </a:lnTo>
                  <a:lnTo>
                    <a:pt x="3213" y="370001"/>
                  </a:lnTo>
                  <a:lnTo>
                    <a:pt x="341757" y="370001"/>
                  </a:lnTo>
                  <a:lnTo>
                    <a:pt x="344982" y="366776"/>
                  </a:lnTo>
                  <a:lnTo>
                    <a:pt x="344982" y="355600"/>
                  </a:lnTo>
                  <a:lnTo>
                    <a:pt x="344982" y="55384"/>
                  </a:lnTo>
                  <a:lnTo>
                    <a:pt x="389534" y="10096"/>
                  </a:lnTo>
                  <a:close/>
                </a:path>
                <a:path w="1464310" h="370204">
                  <a:moveTo>
                    <a:pt x="977392" y="28232"/>
                  </a:moveTo>
                  <a:lnTo>
                    <a:pt x="974166" y="25006"/>
                  </a:lnTo>
                  <a:lnTo>
                    <a:pt x="519112" y="25006"/>
                  </a:lnTo>
                  <a:lnTo>
                    <a:pt x="515886" y="28232"/>
                  </a:lnTo>
                  <a:lnTo>
                    <a:pt x="515886" y="99796"/>
                  </a:lnTo>
                  <a:lnTo>
                    <a:pt x="519112" y="103022"/>
                  </a:lnTo>
                  <a:lnTo>
                    <a:pt x="974166" y="103022"/>
                  </a:lnTo>
                  <a:lnTo>
                    <a:pt x="977392" y="99796"/>
                  </a:lnTo>
                  <a:lnTo>
                    <a:pt x="977392" y="88633"/>
                  </a:lnTo>
                  <a:lnTo>
                    <a:pt x="977392" y="39408"/>
                  </a:lnTo>
                  <a:lnTo>
                    <a:pt x="977392" y="28232"/>
                  </a:lnTo>
                  <a:close/>
                </a:path>
                <a:path w="1464310" h="370204">
                  <a:moveTo>
                    <a:pt x="1464284" y="178955"/>
                  </a:moveTo>
                  <a:lnTo>
                    <a:pt x="1461071" y="175729"/>
                  </a:lnTo>
                  <a:lnTo>
                    <a:pt x="519112" y="175729"/>
                  </a:lnTo>
                  <a:lnTo>
                    <a:pt x="515886" y="178955"/>
                  </a:lnTo>
                  <a:lnTo>
                    <a:pt x="515886" y="250520"/>
                  </a:lnTo>
                  <a:lnTo>
                    <a:pt x="519112" y="253746"/>
                  </a:lnTo>
                  <a:lnTo>
                    <a:pt x="1461071" y="253746"/>
                  </a:lnTo>
                  <a:lnTo>
                    <a:pt x="1464284" y="250520"/>
                  </a:lnTo>
                  <a:lnTo>
                    <a:pt x="1464284" y="239331"/>
                  </a:lnTo>
                  <a:lnTo>
                    <a:pt x="1464284" y="190106"/>
                  </a:lnTo>
                  <a:lnTo>
                    <a:pt x="1464284" y="178955"/>
                  </a:lnTo>
                  <a:close/>
                </a:path>
              </a:pathLst>
            </a:custGeom>
            <a:solidFill>
              <a:srgbClr val="EFF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2753" y="5674779"/>
              <a:ext cx="2877309" cy="8678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567856" y="4871960"/>
              <a:ext cx="481965" cy="248285"/>
            </a:xfrm>
            <a:custGeom>
              <a:avLst/>
              <a:gdLst/>
              <a:ahLst/>
              <a:cxnLst/>
              <a:rect l="l" t="t" r="r" b="b"/>
              <a:pathLst>
                <a:path w="481965" h="248285">
                  <a:moveTo>
                    <a:pt x="481406" y="173075"/>
                  </a:moveTo>
                  <a:lnTo>
                    <a:pt x="478180" y="169849"/>
                  </a:lnTo>
                  <a:lnTo>
                    <a:pt x="3225" y="169849"/>
                  </a:lnTo>
                  <a:lnTo>
                    <a:pt x="0" y="173075"/>
                  </a:lnTo>
                  <a:lnTo>
                    <a:pt x="0" y="244640"/>
                  </a:lnTo>
                  <a:lnTo>
                    <a:pt x="3225" y="247865"/>
                  </a:lnTo>
                  <a:lnTo>
                    <a:pt x="478180" y="247865"/>
                  </a:lnTo>
                  <a:lnTo>
                    <a:pt x="481406" y="244640"/>
                  </a:lnTo>
                  <a:lnTo>
                    <a:pt x="481406" y="233438"/>
                  </a:lnTo>
                  <a:lnTo>
                    <a:pt x="481406" y="184213"/>
                  </a:lnTo>
                  <a:lnTo>
                    <a:pt x="481406" y="173075"/>
                  </a:lnTo>
                  <a:close/>
                </a:path>
                <a:path w="481965" h="248285">
                  <a:moveTo>
                    <a:pt x="481406" y="3225"/>
                  </a:moveTo>
                  <a:lnTo>
                    <a:pt x="478180" y="0"/>
                  </a:lnTo>
                  <a:lnTo>
                    <a:pt x="3225" y="0"/>
                  </a:lnTo>
                  <a:lnTo>
                    <a:pt x="0" y="3225"/>
                  </a:lnTo>
                  <a:lnTo>
                    <a:pt x="0" y="74790"/>
                  </a:lnTo>
                  <a:lnTo>
                    <a:pt x="3225" y="78016"/>
                  </a:lnTo>
                  <a:lnTo>
                    <a:pt x="478180" y="78016"/>
                  </a:lnTo>
                  <a:lnTo>
                    <a:pt x="481406" y="74790"/>
                  </a:lnTo>
                  <a:lnTo>
                    <a:pt x="481406" y="63627"/>
                  </a:lnTo>
                  <a:lnTo>
                    <a:pt x="481406" y="14401"/>
                  </a:lnTo>
                  <a:lnTo>
                    <a:pt x="481406" y="3225"/>
                  </a:lnTo>
                  <a:close/>
                </a:path>
              </a:pathLst>
            </a:custGeom>
            <a:solidFill>
              <a:srgbClr val="EFF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1829" y="7463278"/>
              <a:ext cx="1501885" cy="14200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066" y="4889260"/>
              <a:ext cx="3240584" cy="3904605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16617081" y="560748"/>
            <a:ext cx="1284605" cy="1284605"/>
          </a:xfrm>
          <a:custGeom>
            <a:avLst/>
            <a:gdLst/>
            <a:ahLst/>
            <a:cxnLst/>
            <a:rect l="l" t="t" r="r" b="b"/>
            <a:pathLst>
              <a:path w="1284605" h="1284605">
                <a:moveTo>
                  <a:pt x="0" y="0"/>
                </a:moveTo>
                <a:lnTo>
                  <a:pt x="91821" y="0"/>
                </a:lnTo>
                <a:lnTo>
                  <a:pt x="91821" y="1127722"/>
                </a:lnTo>
                <a:lnTo>
                  <a:pt x="1219105" y="448"/>
                </a:lnTo>
                <a:lnTo>
                  <a:pt x="1284025" y="65368"/>
                </a:lnTo>
                <a:lnTo>
                  <a:pt x="156742" y="1192641"/>
                </a:lnTo>
                <a:lnTo>
                  <a:pt x="1284462" y="1192641"/>
                </a:lnTo>
                <a:lnTo>
                  <a:pt x="1284462" y="1284462"/>
                </a:lnTo>
                <a:lnTo>
                  <a:pt x="0" y="1284462"/>
                </a:lnTo>
                <a:lnTo>
                  <a:pt x="0" y="0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10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0" dirty="0"/>
              <a:t>PROYEKT</a:t>
            </a:r>
            <a:r>
              <a:rPr sz="5500" spc="-125" dirty="0"/>
              <a:t> </a:t>
            </a:r>
            <a:r>
              <a:rPr sz="5500" dirty="0"/>
              <a:t>NIMA</a:t>
            </a:r>
            <a:r>
              <a:rPr sz="5500" spc="1060" dirty="0"/>
              <a:t> </a:t>
            </a:r>
            <a:r>
              <a:rPr sz="5500" spc="-10" dirty="0"/>
              <a:t>HAQIDA</a:t>
            </a:r>
            <a:endParaRPr sz="5500"/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xfrm>
            <a:off x="388540" y="2132640"/>
            <a:ext cx="17310735" cy="681926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511040" marR="406400" indent="-4498975">
              <a:lnSpc>
                <a:spcPts val="4880"/>
              </a:lnSpc>
              <a:spcBef>
                <a:spcPts val="305"/>
              </a:spcBef>
            </a:pPr>
            <a:r>
              <a:rPr dirty="0"/>
              <a:t>Loyihaning</a:t>
            </a:r>
            <a:r>
              <a:rPr spc="-40" dirty="0"/>
              <a:t> </a:t>
            </a:r>
            <a:r>
              <a:rPr dirty="0"/>
              <a:t>maqsadi</a:t>
            </a:r>
            <a:r>
              <a:rPr spc="-35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dirty="0"/>
              <a:t>bankdagi</a:t>
            </a:r>
            <a:r>
              <a:rPr spc="-40" dirty="0"/>
              <a:t> </a:t>
            </a:r>
            <a:r>
              <a:rPr dirty="0"/>
              <a:t>ma</a:t>
            </a:r>
            <a:r>
              <a:rPr lang="en-US" dirty="0"/>
              <a:t>‘</a:t>
            </a:r>
            <a:r>
              <a:rPr dirty="0"/>
              <a:t>lumotlarni</a:t>
            </a:r>
            <a:r>
              <a:rPr spc="-35" dirty="0"/>
              <a:t> </a:t>
            </a:r>
            <a:r>
              <a:rPr dirty="0"/>
              <a:t>yagona</a:t>
            </a:r>
            <a:r>
              <a:rPr spc="-35" dirty="0"/>
              <a:t> </a:t>
            </a:r>
            <a:r>
              <a:rPr dirty="0"/>
              <a:t>tizimga</a:t>
            </a:r>
            <a:r>
              <a:rPr spc="-40" dirty="0"/>
              <a:t> </a:t>
            </a:r>
            <a:r>
              <a:rPr dirty="0"/>
              <a:t>jamlash</a:t>
            </a:r>
            <a:r>
              <a:rPr spc="-35" dirty="0"/>
              <a:t> </a:t>
            </a:r>
            <a:r>
              <a:rPr spc="-25" dirty="0"/>
              <a:t>va </a:t>
            </a:r>
            <a:r>
              <a:rPr dirty="0"/>
              <a:t>ular</a:t>
            </a:r>
            <a:r>
              <a:rPr spc="-130" dirty="0"/>
              <a:t> </a:t>
            </a:r>
            <a:r>
              <a:rPr dirty="0"/>
              <a:t>asosida</a:t>
            </a:r>
            <a:r>
              <a:rPr spc="-35" dirty="0"/>
              <a:t> </a:t>
            </a:r>
            <a:r>
              <a:rPr dirty="0"/>
              <a:t>analitik</a:t>
            </a:r>
            <a:r>
              <a:rPr spc="-40" dirty="0"/>
              <a:t> </a:t>
            </a:r>
            <a:r>
              <a:rPr dirty="0"/>
              <a:t>natijalar</a:t>
            </a:r>
            <a:r>
              <a:rPr spc="-125" dirty="0"/>
              <a:t> </a:t>
            </a:r>
            <a:r>
              <a:rPr spc="-10" dirty="0"/>
              <a:t>olish.</a:t>
            </a:r>
          </a:p>
          <a:p>
            <a:pPr>
              <a:lnSpc>
                <a:spcPct val="100000"/>
              </a:lnSpc>
              <a:spcBef>
                <a:spcPts val="510"/>
              </a:spcBef>
            </a:pPr>
            <a:endParaRPr spc="-10" dirty="0"/>
          </a:p>
          <a:p>
            <a:pPr marL="7658100" marR="5080" indent="374015">
              <a:lnSpc>
                <a:spcPct val="116000"/>
              </a:lnSpc>
              <a:spcBef>
                <a:spcPts val="5"/>
              </a:spcBef>
            </a:pPr>
            <a:r>
              <a:rPr sz="3600" b="0" dirty="0">
                <a:latin typeface="Times New Roman" panose="02020603050405020304"/>
                <a:cs typeface="Times New Roman" panose="02020603050405020304"/>
              </a:rPr>
              <a:t>Bank</a:t>
            </a:r>
            <a:r>
              <a:rPr sz="3600" b="0" spc="6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0" dirty="0">
                <a:latin typeface="Times New Roman" panose="02020603050405020304"/>
                <a:cs typeface="Times New Roman" panose="02020603050405020304"/>
              </a:rPr>
              <a:t>tizimidagi</a:t>
            </a:r>
            <a:r>
              <a:rPr sz="3600" b="0" spc="6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0" dirty="0">
                <a:latin typeface="Times New Roman" panose="02020603050405020304"/>
                <a:cs typeface="Times New Roman" panose="02020603050405020304"/>
              </a:rPr>
              <a:t>asosiy</a:t>
            </a:r>
            <a:r>
              <a:rPr sz="3600" b="0" spc="6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0" dirty="0">
                <a:latin typeface="Times New Roman" panose="02020603050405020304"/>
                <a:cs typeface="Times New Roman" panose="02020603050405020304"/>
              </a:rPr>
              <a:t>jarayonlarni</a:t>
            </a:r>
            <a:r>
              <a:rPr sz="3600" b="0" spc="6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0" spc="-10" dirty="0">
                <a:latin typeface="Times New Roman" panose="02020603050405020304"/>
                <a:cs typeface="Times New Roman" panose="02020603050405020304"/>
              </a:rPr>
              <a:t>ma</a:t>
            </a:r>
            <a:r>
              <a:rPr lang="en-US" sz="3600" b="0" spc="-10" dirty="0">
                <a:latin typeface="Times New Roman" panose="02020603050405020304"/>
                <a:cs typeface="Times New Roman" panose="02020603050405020304"/>
              </a:rPr>
              <a:t>‘</a:t>
            </a:r>
            <a:r>
              <a:rPr sz="3600" b="0" spc="-10" dirty="0">
                <a:latin typeface="Times New Roman" panose="02020603050405020304"/>
                <a:cs typeface="Times New Roman" panose="02020603050405020304"/>
              </a:rPr>
              <a:t>lumotlar </a:t>
            </a:r>
            <a:r>
              <a:rPr sz="3600" b="0" dirty="0">
                <a:latin typeface="Times New Roman" panose="02020603050405020304"/>
                <a:cs typeface="Times New Roman" panose="02020603050405020304"/>
              </a:rPr>
              <a:t>bazasi</a:t>
            </a:r>
            <a:r>
              <a:rPr sz="3600" b="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0" dirty="0">
                <a:latin typeface="Times New Roman" panose="02020603050405020304"/>
                <a:cs typeface="Times New Roman" panose="02020603050405020304"/>
              </a:rPr>
              <a:t>orqali</a:t>
            </a:r>
            <a:r>
              <a:rPr sz="3600" b="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0" dirty="0">
                <a:latin typeface="Times New Roman" panose="02020603050405020304"/>
                <a:cs typeface="Times New Roman" panose="02020603050405020304"/>
              </a:rPr>
              <a:t>boshqarish</a:t>
            </a:r>
            <a:r>
              <a:rPr sz="3600" b="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0" dirty="0">
                <a:latin typeface="Times New Roman" panose="02020603050405020304"/>
                <a:cs typeface="Times New Roman" panose="02020603050405020304"/>
              </a:rPr>
              <a:t>va</a:t>
            </a:r>
            <a:r>
              <a:rPr sz="3600" b="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0" dirty="0">
                <a:latin typeface="Times New Roman" panose="02020603050405020304"/>
                <a:cs typeface="Times New Roman" panose="02020603050405020304"/>
              </a:rPr>
              <a:t>tahlil</a:t>
            </a:r>
            <a:r>
              <a:rPr sz="3600" b="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0" spc="-10" dirty="0">
                <a:latin typeface="Times New Roman" panose="02020603050405020304"/>
                <a:cs typeface="Times New Roman" panose="02020603050405020304"/>
              </a:rPr>
              <a:t>qilish.</a:t>
            </a:r>
          </a:p>
          <a:p>
            <a:pPr marL="7658100" marR="5080" indent="374015">
              <a:lnSpc>
                <a:spcPct val="116000"/>
              </a:lnSpc>
              <a:spcBef>
                <a:spcPts val="5"/>
              </a:spcBef>
            </a:pPr>
            <a:r>
              <a:rPr sz="4000" b="0" spc="-25" dirty="0">
                <a:latin typeface="Times New Roman" panose="02020603050405020304"/>
                <a:cs typeface="Times New Roman" panose="02020603050405020304"/>
              </a:rPr>
              <a:t>SQL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Server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yordamida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00" b="0" spc="-25" dirty="0">
                <a:latin typeface="Times New Roman" panose="02020603050405020304"/>
                <a:cs typeface="Times New Roman" panose="02020603050405020304"/>
              </a:rPr>
              <a:t>30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00" b="0" spc="-25" dirty="0">
                <a:latin typeface="Times New Roman" panose="02020603050405020304"/>
                <a:cs typeface="Times New Roman" panose="02020603050405020304"/>
              </a:rPr>
              <a:t>ta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o‘zaro 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bog‘langan</a:t>
            </a:r>
            <a:r>
              <a:rPr sz="4000" b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jadval</a:t>
            </a:r>
            <a:r>
              <a:rPr sz="4000" b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yaratildi.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7914640">
              <a:lnSpc>
                <a:spcPct val="100000"/>
              </a:lnSpc>
              <a:spcBef>
                <a:spcPts val="495"/>
              </a:spcBef>
            </a:pPr>
            <a:r>
              <a:rPr lang="en-US" sz="4000" b="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Tizimda</a:t>
            </a:r>
            <a:r>
              <a:rPr sz="4000" b="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quyidagi</a:t>
            </a:r>
            <a:r>
              <a:rPr sz="4000" b="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jarayonlar</a:t>
            </a:r>
            <a:r>
              <a:rPr sz="4000" b="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modellashtirildi: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7658100" marR="5080">
              <a:lnSpc>
                <a:spcPct val="117000"/>
              </a:lnSpc>
              <a:tabLst>
                <a:tab pos="10114915" algn="l"/>
                <a:tab pos="11752580" algn="l"/>
                <a:tab pos="14315440" algn="l"/>
              </a:tabLst>
            </a:pP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mijozlar,</a:t>
            </a:r>
            <a:r>
              <a:rPr lang="en-US" sz="4000"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spc="-20" dirty="0">
                <a:latin typeface="Times New Roman" panose="02020603050405020304"/>
                <a:cs typeface="Times New Roman" panose="02020603050405020304"/>
              </a:rPr>
              <a:t>bank</a:t>
            </a:r>
            <a:r>
              <a:rPr lang="en-US" sz="4000" b="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hisoblari,</a:t>
            </a:r>
            <a:r>
              <a:rPr lang="en-US" sz="4000"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tranzaksiyalar, 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kreditlar,</a:t>
            </a:r>
            <a:r>
              <a:rPr sz="4000" b="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filiallar,</a:t>
            </a:r>
            <a:r>
              <a:rPr sz="4000" b="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dirty="0">
                <a:latin typeface="Times New Roman" panose="02020603050405020304"/>
                <a:cs typeface="Times New Roman" panose="02020603050405020304"/>
              </a:rPr>
              <a:t>fraud</a:t>
            </a:r>
            <a:r>
              <a:rPr sz="4000" b="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holatlari;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00" rIns="0" bIns="0" rtlCol="0">
            <a:spAutoFit/>
          </a:bodyPr>
          <a:lstStyle/>
          <a:p>
            <a:pPr marL="769620">
              <a:lnSpc>
                <a:spcPct val="100000"/>
              </a:lnSpc>
              <a:spcBef>
                <a:spcPts val="100"/>
              </a:spcBef>
            </a:pPr>
            <a:r>
              <a:rPr sz="8800" dirty="0"/>
              <a:t>Loyihadagi</a:t>
            </a:r>
            <a:r>
              <a:rPr sz="8800" spc="-180" dirty="0"/>
              <a:t> </a:t>
            </a:r>
            <a:r>
              <a:rPr sz="8800" dirty="0"/>
              <a:t>asosiy</a:t>
            </a:r>
            <a:r>
              <a:rPr sz="8800" spc="-180" dirty="0"/>
              <a:t> </a:t>
            </a:r>
            <a:r>
              <a:rPr sz="8800" spc="-10" dirty="0"/>
              <a:t>muammolar</a:t>
            </a:r>
            <a:endParaRPr sz="8800"/>
          </a:p>
        </p:txBody>
      </p:sp>
      <p:sp>
        <p:nvSpPr>
          <p:cNvPr id="3" name="object 3"/>
          <p:cNvSpPr txBox="1"/>
          <p:nvPr/>
        </p:nvSpPr>
        <p:spPr>
          <a:xfrm>
            <a:off x="1341697" y="4902054"/>
            <a:ext cx="6376670" cy="328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3100" dirty="0">
                <a:latin typeface="Times New Roman" panose="02020603050405020304"/>
                <a:cs typeface="Times New Roman" panose="02020603050405020304"/>
              </a:rPr>
              <a:t>bitta</a:t>
            </a:r>
            <a:r>
              <a:rPr sz="31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mijozda</a:t>
            </a:r>
            <a:r>
              <a:rPr sz="31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bir</a:t>
            </a:r>
            <a:r>
              <a:rPr sz="31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nechta</a:t>
            </a:r>
            <a:r>
              <a:rPr sz="31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account</a:t>
            </a:r>
            <a:r>
              <a:rPr sz="31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spc="-10" dirty="0">
                <a:latin typeface="Times New Roman" panose="02020603050405020304"/>
                <a:cs typeface="Times New Roman" panose="02020603050405020304"/>
              </a:rPr>
              <a:t>bo‘lishi mumkin</a:t>
            </a:r>
            <a:endParaRPr sz="3100">
              <a:latin typeface="Times New Roman" panose="02020603050405020304"/>
              <a:cs typeface="Times New Roman" panose="02020603050405020304"/>
            </a:endParaRPr>
          </a:p>
          <a:p>
            <a:pPr marL="12700" marR="474980">
              <a:lnSpc>
                <a:spcPct val="115000"/>
              </a:lnSpc>
            </a:pPr>
            <a:r>
              <a:rPr sz="3100" dirty="0">
                <a:latin typeface="Times New Roman" panose="02020603050405020304"/>
                <a:cs typeface="Times New Roman" panose="02020603050405020304"/>
              </a:rPr>
              <a:t>mijoz</a:t>
            </a:r>
            <a:r>
              <a:rPr sz="31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kredit</a:t>
            </a:r>
            <a:r>
              <a:rPr sz="31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oladi,</a:t>
            </a:r>
            <a:r>
              <a:rPr sz="31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tranzaksiya</a:t>
            </a:r>
            <a:r>
              <a:rPr sz="31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spc="-10" dirty="0">
                <a:latin typeface="Times New Roman" panose="02020603050405020304"/>
                <a:cs typeface="Times New Roman" panose="02020603050405020304"/>
              </a:rPr>
              <a:t>qiladi,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online</a:t>
            </a:r>
            <a:r>
              <a:rPr sz="31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bankingdan</a:t>
            </a:r>
            <a:r>
              <a:rPr sz="31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spc="-10" dirty="0">
                <a:latin typeface="Times New Roman" panose="02020603050405020304"/>
                <a:cs typeface="Times New Roman" panose="02020603050405020304"/>
              </a:rPr>
              <a:t>foydalanadi</a:t>
            </a:r>
            <a:r>
              <a:rPr sz="3100" spc="7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ayrim</a:t>
            </a:r>
            <a:r>
              <a:rPr sz="31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tranzaksiyalar</a:t>
            </a:r>
            <a:r>
              <a:rPr sz="31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latin typeface="Times New Roman" panose="02020603050405020304"/>
                <a:cs typeface="Times New Roman" panose="02020603050405020304"/>
              </a:rPr>
              <a:t>fraud</a:t>
            </a:r>
            <a:r>
              <a:rPr sz="31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spc="-10" dirty="0">
                <a:latin typeface="Times New Roman" panose="02020603050405020304"/>
                <a:cs typeface="Times New Roman" panose="02020603050405020304"/>
              </a:rPr>
              <a:t>bo‘lishi mumkin</a:t>
            </a:r>
            <a:endParaRPr sz="3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1697" y="3101543"/>
            <a:ext cx="5858510" cy="132778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450215" marR="5080" indent="-438150">
              <a:lnSpc>
                <a:spcPct val="110000"/>
              </a:lnSpc>
              <a:spcBef>
                <a:spcPts val="200"/>
              </a:spcBef>
            </a:pPr>
            <a:r>
              <a:rPr sz="4200" b="1" spc="-1045" dirty="0">
                <a:solidFill>
                  <a:srgbClr val="6FA1BD"/>
                </a:solidFill>
                <a:latin typeface="Tahoma" panose="020B0604030504040204"/>
                <a:cs typeface="Tahoma" panose="020B0604030504040204"/>
              </a:rPr>
              <a:t>1</a:t>
            </a:r>
            <a:r>
              <a:rPr sz="4200" b="1" spc="565" dirty="0">
                <a:solidFill>
                  <a:srgbClr val="6FA1B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500" b="1" dirty="0">
                <a:latin typeface="Times New Roman" panose="02020603050405020304"/>
                <a:cs typeface="Times New Roman" panose="02020603050405020304"/>
              </a:rPr>
              <a:t>Ma</a:t>
            </a:r>
            <a:r>
              <a:rPr lang="en-US" altLang="" sz="3500" b="1" dirty="0">
                <a:latin typeface="Times New Roman" panose="02020603050405020304"/>
                <a:cs typeface="Times New Roman" panose="02020603050405020304"/>
              </a:rPr>
              <a:t>‘</a:t>
            </a:r>
            <a:r>
              <a:rPr sz="3500" b="1" dirty="0">
                <a:latin typeface="Times New Roman" panose="02020603050405020304"/>
                <a:cs typeface="Times New Roman" panose="02020603050405020304"/>
              </a:rPr>
              <a:t>lumotlarning</a:t>
            </a:r>
            <a:r>
              <a:rPr sz="3500" b="1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spc="-10" dirty="0">
                <a:latin typeface="Times New Roman" panose="02020603050405020304"/>
                <a:cs typeface="Times New Roman" panose="02020603050405020304"/>
              </a:rPr>
              <a:t>murakkab bog‘liqligi</a:t>
            </a:r>
            <a:endParaRPr sz="3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5957" y="3182693"/>
            <a:ext cx="6527800" cy="1263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000"/>
              </a:lnSpc>
              <a:spcBef>
                <a:spcPts val="95"/>
              </a:spcBef>
            </a:pPr>
            <a:r>
              <a:rPr sz="3500" b="1" spc="-55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35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5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dirty="0">
                <a:latin typeface="Times New Roman" panose="02020603050405020304"/>
                <a:cs typeface="Times New Roman" panose="02020603050405020304"/>
              </a:rPr>
              <a:t>mantiqan</a:t>
            </a:r>
            <a:r>
              <a:rPr sz="35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dirty="0">
                <a:latin typeface="Times New Roman" panose="02020603050405020304"/>
                <a:cs typeface="Times New Roman" panose="02020603050405020304"/>
              </a:rPr>
              <a:t>to‘g‘ri</a:t>
            </a:r>
            <a:r>
              <a:rPr sz="35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spc="-10" dirty="0">
                <a:latin typeface="Times New Roman" panose="02020603050405020304"/>
                <a:cs typeface="Times New Roman" panose="02020603050405020304"/>
              </a:rPr>
              <a:t>bo‘lishi </a:t>
            </a:r>
            <a:r>
              <a:rPr sz="3500" b="1" dirty="0">
                <a:latin typeface="Times New Roman" panose="02020603050405020304"/>
                <a:cs typeface="Times New Roman" panose="02020603050405020304"/>
              </a:rPr>
              <a:t>kerak</a:t>
            </a:r>
            <a:r>
              <a:rPr sz="35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spc="-25" dirty="0">
                <a:latin typeface="Times New Roman" panose="02020603050405020304"/>
                <a:cs typeface="Times New Roman" panose="02020603050405020304"/>
              </a:rPr>
              <a:t>edi</a:t>
            </a:r>
            <a:endParaRPr sz="3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68983" y="5028096"/>
            <a:ext cx="6289040" cy="227330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3150" spc="60" dirty="0">
                <a:latin typeface="Lucida Sans Unicode" panose="020B0602030504020204"/>
                <a:cs typeface="Lucida Sans Unicode" panose="020B0602030504020204"/>
              </a:rPr>
              <a:t>top</a:t>
            </a:r>
            <a:r>
              <a:rPr sz="315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50" spc="-145" dirty="0">
                <a:latin typeface="Lucida Sans Unicode" panose="020B0602030504020204"/>
                <a:cs typeface="Lucida Sans Unicode" panose="020B0602030504020204"/>
              </a:rPr>
              <a:t>3</a:t>
            </a:r>
            <a:r>
              <a:rPr sz="315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50" spc="70" dirty="0">
                <a:latin typeface="Lucida Sans Unicode" panose="020B0602030504020204"/>
                <a:cs typeface="Lucida Sans Unicode" panose="020B0602030504020204"/>
              </a:rPr>
              <a:t>balansli</a:t>
            </a:r>
            <a:r>
              <a:rPr sz="315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50" spc="-10" dirty="0">
                <a:latin typeface="Lucida Sans Unicode" panose="020B0602030504020204"/>
                <a:cs typeface="Lucida Sans Unicode" panose="020B0602030504020204"/>
              </a:rPr>
              <a:t>mijozlar</a:t>
            </a:r>
            <a:endParaRPr sz="3150">
              <a:latin typeface="Lucida Sans Unicode" panose="020B0602030504020204"/>
              <a:cs typeface="Lucida Sans Unicode" panose="020B0602030504020204"/>
            </a:endParaRPr>
          </a:p>
          <a:p>
            <a:pPr marL="12700" marR="5080">
              <a:lnSpc>
                <a:spcPts val="4430"/>
              </a:lnSpc>
              <a:spcBef>
                <a:spcPts val="90"/>
              </a:spcBef>
            </a:pPr>
            <a:r>
              <a:rPr sz="3150" spc="-20" dirty="0">
                <a:latin typeface="Lucida Sans Unicode" panose="020B0602030504020204"/>
                <a:cs typeface="Lucida Sans Unicode" panose="020B0602030504020204"/>
              </a:rPr>
              <a:t>bir</a:t>
            </a:r>
            <a:r>
              <a:rPr sz="315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50" spc="160" dirty="0">
                <a:latin typeface="Lucida Sans Unicode" panose="020B0602030504020204"/>
                <a:cs typeface="Lucida Sans Unicode" panose="020B0602030504020204"/>
              </a:rPr>
              <a:t>nechta</a:t>
            </a:r>
            <a:r>
              <a:rPr sz="315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50" spc="145" dirty="0">
                <a:latin typeface="Lucida Sans Unicode" panose="020B0602030504020204"/>
                <a:cs typeface="Lucida Sans Unicode" panose="020B0602030504020204"/>
              </a:rPr>
              <a:t>active</a:t>
            </a:r>
            <a:r>
              <a:rPr sz="315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50" dirty="0">
                <a:latin typeface="Lucida Sans Unicode" panose="020B0602030504020204"/>
                <a:cs typeface="Lucida Sans Unicode" panose="020B0602030504020204"/>
              </a:rPr>
              <a:t>loanli</a:t>
            </a:r>
            <a:r>
              <a:rPr sz="315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50" spc="-10" dirty="0">
                <a:latin typeface="Lucida Sans Unicode" panose="020B0602030504020204"/>
                <a:cs typeface="Lucida Sans Unicode" panose="020B0602030504020204"/>
              </a:rPr>
              <a:t>mijozlar </a:t>
            </a:r>
            <a:r>
              <a:rPr sz="3150" spc="65" dirty="0">
                <a:latin typeface="Lucida Sans Unicode" panose="020B0602030504020204"/>
                <a:cs typeface="Lucida Sans Unicode" panose="020B0602030504020204"/>
              </a:rPr>
              <a:t>fraud</a:t>
            </a:r>
            <a:r>
              <a:rPr sz="315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50" spc="270" dirty="0">
                <a:latin typeface="Lucida Sans Unicode" panose="020B0602030504020204"/>
                <a:cs typeface="Lucida Sans Unicode" panose="020B0602030504020204"/>
              </a:rPr>
              <a:t>va</a:t>
            </a:r>
            <a:r>
              <a:rPr sz="315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50" spc="35" dirty="0">
                <a:latin typeface="Lucida Sans Unicode" panose="020B0602030504020204"/>
                <a:cs typeface="Lucida Sans Unicode" panose="020B0602030504020204"/>
              </a:rPr>
              <a:t>suspicious </a:t>
            </a:r>
            <a:r>
              <a:rPr sz="3150" spc="70" dirty="0">
                <a:latin typeface="Lucida Sans Unicode" panose="020B0602030504020204"/>
                <a:cs typeface="Lucida Sans Unicode" panose="020B0602030504020204"/>
              </a:rPr>
              <a:t>transactionlar</a:t>
            </a:r>
            <a:endParaRPr sz="31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31376" y="3275511"/>
            <a:ext cx="3403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145" dirty="0">
                <a:solidFill>
                  <a:srgbClr val="6FA1BD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4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588553" y="8685499"/>
            <a:ext cx="1145540" cy="1145540"/>
          </a:xfrm>
          <a:custGeom>
            <a:avLst/>
            <a:gdLst/>
            <a:ahLst/>
            <a:cxnLst/>
            <a:rect l="l" t="t" r="r" b="b"/>
            <a:pathLst>
              <a:path w="1145540" h="1145540">
                <a:moveTo>
                  <a:pt x="0" y="1145464"/>
                </a:moveTo>
                <a:lnTo>
                  <a:pt x="81884" y="1145464"/>
                </a:lnTo>
                <a:lnTo>
                  <a:pt x="81884" y="139778"/>
                </a:lnTo>
                <a:lnTo>
                  <a:pt x="1087180" y="1145065"/>
                </a:lnTo>
                <a:lnTo>
                  <a:pt x="1145075" y="1087170"/>
                </a:lnTo>
                <a:lnTo>
                  <a:pt x="139780" y="81884"/>
                </a:lnTo>
                <a:lnTo>
                  <a:pt x="1145464" y="81884"/>
                </a:lnTo>
                <a:lnTo>
                  <a:pt x="1145464" y="0"/>
                </a:lnTo>
                <a:lnTo>
                  <a:pt x="0" y="0"/>
                </a:lnTo>
                <a:lnTo>
                  <a:pt x="0" y="1145464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0858" y="3948128"/>
            <a:ext cx="4853305" cy="3919854"/>
          </a:xfrm>
          <a:custGeom>
            <a:avLst/>
            <a:gdLst/>
            <a:ahLst/>
            <a:cxnLst/>
            <a:rect l="l" t="t" r="r" b="b"/>
            <a:pathLst>
              <a:path w="4853305" h="3919854">
                <a:moveTo>
                  <a:pt x="4368503" y="3919266"/>
                </a:moveTo>
                <a:lnTo>
                  <a:pt x="485775" y="3919266"/>
                </a:lnTo>
                <a:lnTo>
                  <a:pt x="437762" y="3916889"/>
                </a:lnTo>
                <a:lnTo>
                  <a:pt x="390562" y="3909846"/>
                </a:lnTo>
                <a:lnTo>
                  <a:pt x="344494" y="3898269"/>
                </a:lnTo>
                <a:lnTo>
                  <a:pt x="299876" y="3882289"/>
                </a:lnTo>
                <a:lnTo>
                  <a:pt x="257028" y="3862039"/>
                </a:lnTo>
                <a:lnTo>
                  <a:pt x="216266" y="3837650"/>
                </a:lnTo>
                <a:lnTo>
                  <a:pt x="177911" y="3809255"/>
                </a:lnTo>
                <a:lnTo>
                  <a:pt x="142280" y="3776986"/>
                </a:lnTo>
                <a:lnTo>
                  <a:pt x="110010" y="3741355"/>
                </a:lnTo>
                <a:lnTo>
                  <a:pt x="81615" y="3702999"/>
                </a:lnTo>
                <a:lnTo>
                  <a:pt x="57227" y="3662238"/>
                </a:lnTo>
                <a:lnTo>
                  <a:pt x="36977" y="3619389"/>
                </a:lnTo>
                <a:lnTo>
                  <a:pt x="20997" y="3574772"/>
                </a:lnTo>
                <a:lnTo>
                  <a:pt x="9420" y="3528704"/>
                </a:lnTo>
                <a:lnTo>
                  <a:pt x="2377" y="3481504"/>
                </a:lnTo>
                <a:lnTo>
                  <a:pt x="0" y="3433491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4368503" y="0"/>
                </a:lnTo>
                <a:lnTo>
                  <a:pt x="4416516" y="2377"/>
                </a:lnTo>
                <a:lnTo>
                  <a:pt x="4463716" y="9420"/>
                </a:lnTo>
                <a:lnTo>
                  <a:pt x="4509783" y="20997"/>
                </a:lnTo>
                <a:lnTo>
                  <a:pt x="4554401" y="36977"/>
                </a:lnTo>
                <a:lnTo>
                  <a:pt x="4597250" y="57227"/>
                </a:lnTo>
                <a:lnTo>
                  <a:pt x="4638011" y="81615"/>
                </a:lnTo>
                <a:lnTo>
                  <a:pt x="4676367" y="110010"/>
                </a:lnTo>
                <a:lnTo>
                  <a:pt x="4711998" y="142280"/>
                </a:lnTo>
                <a:lnTo>
                  <a:pt x="4744267" y="177911"/>
                </a:lnTo>
                <a:lnTo>
                  <a:pt x="4772662" y="216266"/>
                </a:lnTo>
                <a:lnTo>
                  <a:pt x="4797050" y="257028"/>
                </a:lnTo>
                <a:lnTo>
                  <a:pt x="4817300" y="299876"/>
                </a:lnTo>
                <a:lnTo>
                  <a:pt x="4833280" y="344494"/>
                </a:lnTo>
                <a:lnTo>
                  <a:pt x="4844858" y="390562"/>
                </a:lnTo>
                <a:lnTo>
                  <a:pt x="4851901" y="437762"/>
                </a:lnTo>
                <a:lnTo>
                  <a:pt x="4853154" y="463076"/>
                </a:lnTo>
                <a:lnTo>
                  <a:pt x="4853154" y="3456190"/>
                </a:lnTo>
                <a:lnTo>
                  <a:pt x="4844858" y="3528704"/>
                </a:lnTo>
                <a:lnTo>
                  <a:pt x="4833280" y="3574772"/>
                </a:lnTo>
                <a:lnTo>
                  <a:pt x="4817300" y="3619389"/>
                </a:lnTo>
                <a:lnTo>
                  <a:pt x="4797050" y="3662238"/>
                </a:lnTo>
                <a:lnTo>
                  <a:pt x="4772662" y="3702999"/>
                </a:lnTo>
                <a:lnTo>
                  <a:pt x="4744267" y="3741355"/>
                </a:lnTo>
                <a:lnTo>
                  <a:pt x="4711998" y="3776986"/>
                </a:lnTo>
                <a:lnTo>
                  <a:pt x="4676367" y="3809255"/>
                </a:lnTo>
                <a:lnTo>
                  <a:pt x="4638011" y="3837650"/>
                </a:lnTo>
                <a:lnTo>
                  <a:pt x="4597250" y="3862039"/>
                </a:lnTo>
                <a:lnTo>
                  <a:pt x="4554401" y="3882289"/>
                </a:lnTo>
                <a:lnTo>
                  <a:pt x="4509783" y="3898269"/>
                </a:lnTo>
                <a:lnTo>
                  <a:pt x="4463716" y="3909846"/>
                </a:lnTo>
                <a:lnTo>
                  <a:pt x="4416516" y="3916889"/>
                </a:lnTo>
                <a:lnTo>
                  <a:pt x="4368503" y="3919266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61887" y="3948128"/>
            <a:ext cx="4960620" cy="3919854"/>
          </a:xfrm>
          <a:custGeom>
            <a:avLst/>
            <a:gdLst/>
            <a:ahLst/>
            <a:cxnLst/>
            <a:rect l="l" t="t" r="r" b="b"/>
            <a:pathLst>
              <a:path w="4960620" h="3919854">
                <a:moveTo>
                  <a:pt x="4478449" y="3919266"/>
                </a:moveTo>
                <a:lnTo>
                  <a:pt x="485775" y="3919266"/>
                </a:lnTo>
                <a:lnTo>
                  <a:pt x="437762" y="3916889"/>
                </a:lnTo>
                <a:lnTo>
                  <a:pt x="390562" y="3909846"/>
                </a:lnTo>
                <a:lnTo>
                  <a:pt x="344494" y="3898269"/>
                </a:lnTo>
                <a:lnTo>
                  <a:pt x="299877" y="3882289"/>
                </a:lnTo>
                <a:lnTo>
                  <a:pt x="257028" y="3862039"/>
                </a:lnTo>
                <a:lnTo>
                  <a:pt x="216266" y="3837650"/>
                </a:lnTo>
                <a:lnTo>
                  <a:pt x="177911" y="3809255"/>
                </a:lnTo>
                <a:lnTo>
                  <a:pt x="142280" y="3776986"/>
                </a:lnTo>
                <a:lnTo>
                  <a:pt x="110011" y="3741355"/>
                </a:lnTo>
                <a:lnTo>
                  <a:pt x="81616" y="3702999"/>
                </a:lnTo>
                <a:lnTo>
                  <a:pt x="57227" y="3662238"/>
                </a:lnTo>
                <a:lnTo>
                  <a:pt x="36977" y="3619389"/>
                </a:lnTo>
                <a:lnTo>
                  <a:pt x="20997" y="3574772"/>
                </a:lnTo>
                <a:lnTo>
                  <a:pt x="9420" y="3528704"/>
                </a:lnTo>
                <a:lnTo>
                  <a:pt x="2377" y="3481504"/>
                </a:lnTo>
                <a:lnTo>
                  <a:pt x="0" y="3433491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4478449" y="0"/>
                </a:lnTo>
                <a:lnTo>
                  <a:pt x="4526462" y="2377"/>
                </a:lnTo>
                <a:lnTo>
                  <a:pt x="4573662" y="9420"/>
                </a:lnTo>
                <a:lnTo>
                  <a:pt x="4619730" y="20997"/>
                </a:lnTo>
                <a:lnTo>
                  <a:pt x="4664348" y="36977"/>
                </a:lnTo>
                <a:lnTo>
                  <a:pt x="4707196" y="57227"/>
                </a:lnTo>
                <a:lnTo>
                  <a:pt x="4747958" y="81615"/>
                </a:lnTo>
                <a:lnTo>
                  <a:pt x="4786313" y="110010"/>
                </a:lnTo>
                <a:lnTo>
                  <a:pt x="4821944" y="142280"/>
                </a:lnTo>
                <a:lnTo>
                  <a:pt x="4854214" y="177911"/>
                </a:lnTo>
                <a:lnTo>
                  <a:pt x="4882609" y="216266"/>
                </a:lnTo>
                <a:lnTo>
                  <a:pt x="4906997" y="257028"/>
                </a:lnTo>
                <a:lnTo>
                  <a:pt x="4927247" y="299876"/>
                </a:lnTo>
                <a:lnTo>
                  <a:pt x="4943227" y="344494"/>
                </a:lnTo>
                <a:lnTo>
                  <a:pt x="4954805" y="390562"/>
                </a:lnTo>
                <a:lnTo>
                  <a:pt x="4960322" y="427534"/>
                </a:lnTo>
                <a:lnTo>
                  <a:pt x="4960322" y="3491732"/>
                </a:lnTo>
                <a:lnTo>
                  <a:pt x="4943227" y="3574772"/>
                </a:lnTo>
                <a:lnTo>
                  <a:pt x="4927247" y="3619389"/>
                </a:lnTo>
                <a:lnTo>
                  <a:pt x="4906997" y="3662238"/>
                </a:lnTo>
                <a:lnTo>
                  <a:pt x="4882609" y="3702999"/>
                </a:lnTo>
                <a:lnTo>
                  <a:pt x="4854214" y="3741355"/>
                </a:lnTo>
                <a:lnTo>
                  <a:pt x="4821944" y="3776986"/>
                </a:lnTo>
                <a:lnTo>
                  <a:pt x="4786313" y="3809255"/>
                </a:lnTo>
                <a:lnTo>
                  <a:pt x="4747958" y="3837650"/>
                </a:lnTo>
                <a:lnTo>
                  <a:pt x="4707196" y="3862039"/>
                </a:lnTo>
                <a:lnTo>
                  <a:pt x="4664348" y="3882289"/>
                </a:lnTo>
                <a:lnTo>
                  <a:pt x="4619730" y="3898269"/>
                </a:lnTo>
                <a:lnTo>
                  <a:pt x="4573662" y="3909846"/>
                </a:lnTo>
                <a:lnTo>
                  <a:pt x="4526462" y="3916889"/>
                </a:lnTo>
                <a:lnTo>
                  <a:pt x="4478449" y="3919266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295075" y="3948128"/>
            <a:ext cx="4960620" cy="3919854"/>
          </a:xfrm>
          <a:custGeom>
            <a:avLst/>
            <a:gdLst/>
            <a:ahLst/>
            <a:cxnLst/>
            <a:rect l="l" t="t" r="r" b="b"/>
            <a:pathLst>
              <a:path w="4960619" h="3919854">
                <a:moveTo>
                  <a:pt x="4478449" y="3919266"/>
                </a:moveTo>
                <a:lnTo>
                  <a:pt x="485775" y="3919266"/>
                </a:lnTo>
                <a:lnTo>
                  <a:pt x="437762" y="3916889"/>
                </a:lnTo>
                <a:lnTo>
                  <a:pt x="390562" y="3909846"/>
                </a:lnTo>
                <a:lnTo>
                  <a:pt x="344494" y="3898269"/>
                </a:lnTo>
                <a:lnTo>
                  <a:pt x="299876" y="3882289"/>
                </a:lnTo>
                <a:lnTo>
                  <a:pt x="257028" y="3862039"/>
                </a:lnTo>
                <a:lnTo>
                  <a:pt x="216266" y="3837650"/>
                </a:lnTo>
                <a:lnTo>
                  <a:pt x="177911" y="3809255"/>
                </a:lnTo>
                <a:lnTo>
                  <a:pt x="142280" y="3776986"/>
                </a:lnTo>
                <a:lnTo>
                  <a:pt x="110011" y="3741355"/>
                </a:lnTo>
                <a:lnTo>
                  <a:pt x="81616" y="3702999"/>
                </a:lnTo>
                <a:lnTo>
                  <a:pt x="57227" y="3662238"/>
                </a:lnTo>
                <a:lnTo>
                  <a:pt x="36977" y="3619389"/>
                </a:lnTo>
                <a:lnTo>
                  <a:pt x="20997" y="3574772"/>
                </a:lnTo>
                <a:lnTo>
                  <a:pt x="9420" y="3528704"/>
                </a:lnTo>
                <a:lnTo>
                  <a:pt x="2377" y="3481504"/>
                </a:lnTo>
                <a:lnTo>
                  <a:pt x="0" y="3433491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4478449" y="0"/>
                </a:lnTo>
                <a:lnTo>
                  <a:pt x="4526462" y="2377"/>
                </a:lnTo>
                <a:lnTo>
                  <a:pt x="4573662" y="9420"/>
                </a:lnTo>
                <a:lnTo>
                  <a:pt x="4619730" y="20997"/>
                </a:lnTo>
                <a:lnTo>
                  <a:pt x="4664348" y="36977"/>
                </a:lnTo>
                <a:lnTo>
                  <a:pt x="4707196" y="57227"/>
                </a:lnTo>
                <a:lnTo>
                  <a:pt x="4747958" y="81615"/>
                </a:lnTo>
                <a:lnTo>
                  <a:pt x="4786313" y="110010"/>
                </a:lnTo>
                <a:lnTo>
                  <a:pt x="4821945" y="142280"/>
                </a:lnTo>
                <a:lnTo>
                  <a:pt x="4854214" y="177911"/>
                </a:lnTo>
                <a:lnTo>
                  <a:pt x="4882609" y="216266"/>
                </a:lnTo>
                <a:lnTo>
                  <a:pt x="4906997" y="257028"/>
                </a:lnTo>
                <a:lnTo>
                  <a:pt x="4927247" y="299876"/>
                </a:lnTo>
                <a:lnTo>
                  <a:pt x="4943227" y="344494"/>
                </a:lnTo>
                <a:lnTo>
                  <a:pt x="4954804" y="390562"/>
                </a:lnTo>
                <a:lnTo>
                  <a:pt x="4960322" y="427539"/>
                </a:lnTo>
                <a:lnTo>
                  <a:pt x="4960322" y="3491727"/>
                </a:lnTo>
                <a:lnTo>
                  <a:pt x="4943227" y="3574772"/>
                </a:lnTo>
                <a:lnTo>
                  <a:pt x="4927247" y="3619389"/>
                </a:lnTo>
                <a:lnTo>
                  <a:pt x="4906997" y="3662238"/>
                </a:lnTo>
                <a:lnTo>
                  <a:pt x="4882609" y="3702999"/>
                </a:lnTo>
                <a:lnTo>
                  <a:pt x="4854214" y="3741355"/>
                </a:lnTo>
                <a:lnTo>
                  <a:pt x="4821945" y="3776986"/>
                </a:lnTo>
                <a:lnTo>
                  <a:pt x="4786313" y="3809255"/>
                </a:lnTo>
                <a:lnTo>
                  <a:pt x="4747958" y="3837650"/>
                </a:lnTo>
                <a:lnTo>
                  <a:pt x="4707196" y="3862039"/>
                </a:lnTo>
                <a:lnTo>
                  <a:pt x="4664348" y="3882289"/>
                </a:lnTo>
                <a:lnTo>
                  <a:pt x="4619730" y="3898269"/>
                </a:lnTo>
                <a:lnTo>
                  <a:pt x="4573662" y="3909846"/>
                </a:lnTo>
                <a:lnTo>
                  <a:pt x="4526462" y="3916889"/>
                </a:lnTo>
                <a:lnTo>
                  <a:pt x="4478449" y="3919266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8877300"/>
            <a:ext cx="18288000" cy="701675"/>
          </a:xfrm>
          <a:custGeom>
            <a:avLst/>
            <a:gdLst/>
            <a:ahLst/>
            <a:cxnLst/>
            <a:rect l="l" t="t" r="r" b="b"/>
            <a:pathLst>
              <a:path w="18288000" h="701675">
                <a:moveTo>
                  <a:pt x="18288000" y="701392"/>
                </a:moveTo>
                <a:lnTo>
                  <a:pt x="0" y="701392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701392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5825">
              <a:lnSpc>
                <a:spcPct val="100000"/>
              </a:lnSpc>
              <a:spcBef>
                <a:spcPts val="100"/>
              </a:spcBef>
            </a:pPr>
            <a:r>
              <a:rPr sz="8800" spc="-65" dirty="0"/>
              <a:t>SQL</a:t>
            </a:r>
            <a:r>
              <a:rPr sz="8800" spc="-490" dirty="0"/>
              <a:t> </a:t>
            </a:r>
            <a:r>
              <a:rPr sz="8800" spc="-10" dirty="0"/>
              <a:t>ORQALI</a:t>
            </a:r>
            <a:r>
              <a:rPr sz="8800" spc="-520" dirty="0"/>
              <a:t> </a:t>
            </a:r>
            <a:r>
              <a:rPr sz="8800" spc="-10" dirty="0"/>
              <a:t>YECHIM</a:t>
            </a:r>
            <a:endParaRPr sz="8800"/>
          </a:p>
        </p:txBody>
      </p:sp>
      <p:sp>
        <p:nvSpPr>
          <p:cNvPr id="7" name="object 7"/>
          <p:cNvSpPr txBox="1"/>
          <p:nvPr/>
        </p:nvSpPr>
        <p:spPr>
          <a:xfrm>
            <a:off x="1306577" y="4031277"/>
            <a:ext cx="452310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latin typeface="Times New Roman" panose="02020603050405020304"/>
                <a:cs typeface="Times New Roman" panose="02020603050405020304"/>
              </a:rPr>
              <a:t>Database</a:t>
            </a:r>
            <a:r>
              <a:rPr sz="50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0" b="1" spc="-10" dirty="0">
                <a:latin typeface="Times New Roman" panose="02020603050405020304"/>
                <a:cs typeface="Times New Roman" panose="02020603050405020304"/>
              </a:rPr>
              <a:t>Design</a:t>
            </a:r>
            <a:endParaRPr sz="5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7056" y="5401079"/>
            <a:ext cx="4453890" cy="1511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93395">
              <a:lnSpc>
                <a:spcPct val="106000"/>
              </a:lnSpc>
              <a:spcBef>
                <a:spcPts val="95"/>
              </a:spcBef>
            </a:pPr>
            <a:r>
              <a:rPr sz="4600" dirty="0">
                <a:latin typeface="Times New Roman" panose="02020603050405020304"/>
                <a:cs typeface="Times New Roman" panose="02020603050405020304"/>
              </a:rPr>
              <a:t>PK,</a:t>
            </a:r>
            <a:r>
              <a:rPr sz="4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latin typeface="Times New Roman" panose="02020603050405020304"/>
                <a:cs typeface="Times New Roman" panose="02020603050405020304"/>
              </a:rPr>
              <a:t>FK</a:t>
            </a:r>
            <a:r>
              <a:rPr sz="4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-10" dirty="0">
                <a:latin typeface="Times New Roman" panose="02020603050405020304"/>
                <a:cs typeface="Times New Roman" panose="02020603050405020304"/>
              </a:rPr>
              <a:t>orqali </a:t>
            </a:r>
            <a:r>
              <a:rPr sz="4600" dirty="0">
                <a:latin typeface="Times New Roman" panose="02020603050405020304"/>
                <a:cs typeface="Times New Roman" panose="02020603050405020304"/>
              </a:rPr>
              <a:t>jadvallar</a:t>
            </a:r>
            <a:r>
              <a:rPr sz="4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-10" dirty="0">
                <a:latin typeface="Times New Roman" panose="02020603050405020304"/>
                <a:cs typeface="Times New Roman" panose="02020603050405020304"/>
              </a:rPr>
              <a:t>bog‘landi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1656" y="3663437"/>
            <a:ext cx="4277360" cy="4002404"/>
          </a:xfrm>
          <a:prstGeom prst="rect">
            <a:avLst/>
          </a:prstGeom>
        </p:spPr>
        <p:txBody>
          <a:bodyPr vert="horz" wrap="square" lIns="0" tIns="380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95"/>
              </a:spcBef>
            </a:pPr>
            <a:r>
              <a:rPr sz="50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50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0" b="1" spc="-40" dirty="0">
                <a:latin typeface="Times New Roman" panose="02020603050405020304"/>
                <a:cs typeface="Times New Roman" panose="02020603050405020304"/>
              </a:rPr>
              <a:t>Validation</a:t>
            </a:r>
            <a:endParaRPr sz="5000">
              <a:latin typeface="Times New Roman" panose="02020603050405020304"/>
              <a:cs typeface="Times New Roman" panose="02020603050405020304"/>
            </a:endParaRPr>
          </a:p>
          <a:p>
            <a:pPr marL="18415" marR="201295" algn="ctr">
              <a:lnSpc>
                <a:spcPct val="106000"/>
              </a:lnSpc>
              <a:spcBef>
                <a:spcPts val="2015"/>
              </a:spcBef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CHECK,</a:t>
            </a:r>
            <a:r>
              <a:rPr sz="4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UNIQUE, DEFAULT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R="55245" algn="ctr">
              <a:lnSpc>
                <a:spcPct val="100000"/>
              </a:lnSpc>
              <a:spcBef>
                <a:spcPts val="300"/>
              </a:spcBef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orqali</a:t>
            </a:r>
            <a:r>
              <a:rPr sz="4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4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nazorat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R="182245" algn="ctr">
              <a:lnSpc>
                <a:spcPct val="100000"/>
              </a:lnSpc>
              <a:spcBef>
                <a:spcPts val="300"/>
              </a:spcBef>
            </a:pP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qilindi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73340" y="3746770"/>
            <a:ext cx="4683760" cy="3550920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40"/>
              </a:spcBef>
            </a:pPr>
            <a:r>
              <a:rPr sz="4800" b="1" spc="-20" dirty="0">
                <a:latin typeface="Times New Roman" panose="02020603050405020304"/>
                <a:cs typeface="Times New Roman" panose="02020603050405020304"/>
              </a:rPr>
              <a:t>3-</a:t>
            </a:r>
            <a:r>
              <a:rPr sz="4800" b="1" dirty="0">
                <a:latin typeface="Times New Roman" panose="02020603050405020304"/>
                <a:cs typeface="Times New Roman" panose="02020603050405020304"/>
              </a:rPr>
              <a:t>blok.</a:t>
            </a:r>
            <a:r>
              <a:rPr sz="48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b="1" spc="-40" dirty="0">
                <a:latin typeface="Times New Roman" panose="02020603050405020304"/>
                <a:cs typeface="Times New Roman" panose="02020603050405020304"/>
              </a:rPr>
              <a:t>SQL</a:t>
            </a:r>
            <a:r>
              <a:rPr sz="4800" b="1" spc="-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b="1" spc="-10" dirty="0">
                <a:latin typeface="Times New Roman" panose="02020603050405020304"/>
                <a:cs typeface="Times New Roman" panose="02020603050405020304"/>
              </a:rPr>
              <a:t>tahlil</a:t>
            </a:r>
            <a:endParaRPr sz="4800">
              <a:latin typeface="Times New Roman" panose="02020603050405020304"/>
              <a:cs typeface="Times New Roman" panose="02020603050405020304"/>
            </a:endParaRPr>
          </a:p>
          <a:p>
            <a:pPr marL="69215" marR="61595" algn="ctr">
              <a:lnSpc>
                <a:spcPct val="106000"/>
              </a:lnSpc>
              <a:spcBef>
                <a:spcPts val="2005"/>
              </a:spcBef>
            </a:pPr>
            <a:r>
              <a:rPr sz="4600" dirty="0">
                <a:latin typeface="Times New Roman" panose="02020603050405020304"/>
                <a:cs typeface="Times New Roman" panose="02020603050405020304"/>
              </a:rPr>
              <a:t>JOIN,</a:t>
            </a:r>
            <a:r>
              <a:rPr sz="4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-10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4600" spc="-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6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4600" spc="-54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spc="6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46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-25" dirty="0">
                <a:latin typeface="Times New Roman" panose="02020603050405020304"/>
                <a:cs typeface="Times New Roman" panose="02020603050405020304"/>
              </a:rPr>
              <a:t>SUM</a:t>
            </a:r>
            <a:endParaRPr sz="4600">
              <a:latin typeface="Times New Roman" panose="02020603050405020304"/>
              <a:cs typeface="Times New Roman" panose="02020603050405020304"/>
            </a:endParaRPr>
          </a:p>
          <a:p>
            <a:pPr marL="146050" algn="ctr">
              <a:lnSpc>
                <a:spcPct val="100000"/>
              </a:lnSpc>
              <a:spcBef>
                <a:spcPts val="330"/>
              </a:spcBef>
            </a:pPr>
            <a:r>
              <a:rPr sz="4600" dirty="0">
                <a:latin typeface="Times New Roman" panose="02020603050405020304"/>
                <a:cs typeface="Times New Roman" panose="02020603050405020304"/>
              </a:rPr>
              <a:t>orqali</a:t>
            </a:r>
            <a:r>
              <a:rPr sz="4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dirty="0">
                <a:latin typeface="Times New Roman" panose="02020603050405020304"/>
                <a:cs typeface="Times New Roman" panose="02020603050405020304"/>
              </a:rPr>
              <a:t>tahlil</a:t>
            </a:r>
            <a:r>
              <a:rPr sz="4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00" spc="-10" dirty="0">
                <a:latin typeface="Times New Roman" panose="02020603050405020304"/>
                <a:cs typeface="Times New Roman" panose="02020603050405020304"/>
              </a:rPr>
              <a:t>qilindi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9709" y="2798525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8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5"/>
                </a:lnTo>
                <a:lnTo>
                  <a:pt x="135587" y="624592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6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6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2"/>
                </a:lnTo>
                <a:lnTo>
                  <a:pt x="524568" y="649635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8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25931" y="2702598"/>
            <a:ext cx="8399780" cy="889635"/>
          </a:xfrm>
          <a:custGeom>
            <a:avLst/>
            <a:gdLst/>
            <a:ahLst/>
            <a:cxnLst/>
            <a:rect l="l" t="t" r="r" b="b"/>
            <a:pathLst>
              <a:path w="8399780" h="889635">
                <a:moveTo>
                  <a:pt x="7955036" y="889082"/>
                </a:moveTo>
                <a:lnTo>
                  <a:pt x="444541" y="889082"/>
                </a:lnTo>
                <a:lnTo>
                  <a:pt x="396103" y="886474"/>
                </a:lnTo>
                <a:lnTo>
                  <a:pt x="349176" y="878829"/>
                </a:lnTo>
                <a:lnTo>
                  <a:pt x="304031" y="866419"/>
                </a:lnTo>
                <a:lnTo>
                  <a:pt x="260940" y="849516"/>
                </a:lnTo>
                <a:lnTo>
                  <a:pt x="220172" y="828389"/>
                </a:lnTo>
                <a:lnTo>
                  <a:pt x="182000" y="803312"/>
                </a:lnTo>
                <a:lnTo>
                  <a:pt x="146695" y="774554"/>
                </a:lnTo>
                <a:lnTo>
                  <a:pt x="114528" y="742386"/>
                </a:lnTo>
                <a:lnTo>
                  <a:pt x="85770" y="707081"/>
                </a:lnTo>
                <a:lnTo>
                  <a:pt x="60692" y="668909"/>
                </a:lnTo>
                <a:lnTo>
                  <a:pt x="39566" y="628142"/>
                </a:lnTo>
                <a:lnTo>
                  <a:pt x="22663" y="585050"/>
                </a:lnTo>
                <a:lnTo>
                  <a:pt x="10253" y="539905"/>
                </a:lnTo>
                <a:lnTo>
                  <a:pt x="2608" y="492979"/>
                </a:lnTo>
                <a:lnTo>
                  <a:pt x="0" y="444541"/>
                </a:lnTo>
                <a:lnTo>
                  <a:pt x="2608" y="396103"/>
                </a:lnTo>
                <a:lnTo>
                  <a:pt x="10253" y="349176"/>
                </a:lnTo>
                <a:lnTo>
                  <a:pt x="22663" y="304031"/>
                </a:lnTo>
                <a:lnTo>
                  <a:pt x="39566" y="260940"/>
                </a:lnTo>
                <a:lnTo>
                  <a:pt x="60692" y="220172"/>
                </a:lnTo>
                <a:lnTo>
                  <a:pt x="85770" y="182000"/>
                </a:lnTo>
                <a:lnTo>
                  <a:pt x="114528" y="146695"/>
                </a:lnTo>
                <a:lnTo>
                  <a:pt x="146695" y="114528"/>
                </a:lnTo>
                <a:lnTo>
                  <a:pt x="182000" y="85770"/>
                </a:lnTo>
                <a:lnTo>
                  <a:pt x="220172" y="60692"/>
                </a:lnTo>
                <a:lnTo>
                  <a:pt x="260940" y="39566"/>
                </a:lnTo>
                <a:lnTo>
                  <a:pt x="304031" y="22663"/>
                </a:lnTo>
                <a:lnTo>
                  <a:pt x="349176" y="10253"/>
                </a:lnTo>
                <a:lnTo>
                  <a:pt x="396103" y="2608"/>
                </a:lnTo>
                <a:lnTo>
                  <a:pt x="444541" y="0"/>
                </a:lnTo>
                <a:lnTo>
                  <a:pt x="7955036" y="0"/>
                </a:lnTo>
                <a:lnTo>
                  <a:pt x="8003473" y="2608"/>
                </a:lnTo>
                <a:lnTo>
                  <a:pt x="8050400" y="10253"/>
                </a:lnTo>
                <a:lnTo>
                  <a:pt x="8095545" y="22663"/>
                </a:lnTo>
                <a:lnTo>
                  <a:pt x="8138637" y="39566"/>
                </a:lnTo>
                <a:lnTo>
                  <a:pt x="8179404" y="60692"/>
                </a:lnTo>
                <a:lnTo>
                  <a:pt x="8217576" y="85770"/>
                </a:lnTo>
                <a:lnTo>
                  <a:pt x="8252881" y="114528"/>
                </a:lnTo>
                <a:lnTo>
                  <a:pt x="8285048" y="146695"/>
                </a:lnTo>
                <a:lnTo>
                  <a:pt x="8313806" y="182000"/>
                </a:lnTo>
                <a:lnTo>
                  <a:pt x="8338884" y="220172"/>
                </a:lnTo>
                <a:lnTo>
                  <a:pt x="8360010" y="260940"/>
                </a:lnTo>
                <a:lnTo>
                  <a:pt x="8376914" y="304031"/>
                </a:lnTo>
                <a:lnTo>
                  <a:pt x="8389324" y="349176"/>
                </a:lnTo>
                <a:lnTo>
                  <a:pt x="8396968" y="396103"/>
                </a:lnTo>
                <a:lnTo>
                  <a:pt x="8399577" y="444541"/>
                </a:lnTo>
                <a:lnTo>
                  <a:pt x="8396968" y="492979"/>
                </a:lnTo>
                <a:lnTo>
                  <a:pt x="8389324" y="539905"/>
                </a:lnTo>
                <a:lnTo>
                  <a:pt x="8376914" y="585050"/>
                </a:lnTo>
                <a:lnTo>
                  <a:pt x="8360010" y="628142"/>
                </a:lnTo>
                <a:lnTo>
                  <a:pt x="8338884" y="668909"/>
                </a:lnTo>
                <a:lnTo>
                  <a:pt x="8313806" y="707081"/>
                </a:lnTo>
                <a:lnTo>
                  <a:pt x="8285048" y="742386"/>
                </a:lnTo>
                <a:lnTo>
                  <a:pt x="8252881" y="774554"/>
                </a:lnTo>
                <a:lnTo>
                  <a:pt x="8217576" y="803312"/>
                </a:lnTo>
                <a:lnTo>
                  <a:pt x="8179404" y="828389"/>
                </a:lnTo>
                <a:lnTo>
                  <a:pt x="8138637" y="849516"/>
                </a:lnTo>
                <a:lnTo>
                  <a:pt x="8095545" y="866419"/>
                </a:lnTo>
                <a:lnTo>
                  <a:pt x="8050400" y="878829"/>
                </a:lnTo>
                <a:lnTo>
                  <a:pt x="8003473" y="886474"/>
                </a:lnTo>
                <a:lnTo>
                  <a:pt x="7955036" y="889082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9709" y="4081265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9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5"/>
                </a:lnTo>
                <a:lnTo>
                  <a:pt x="135587" y="624593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7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7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3"/>
                </a:lnTo>
                <a:lnTo>
                  <a:pt x="524568" y="649635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9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25931" y="4081266"/>
            <a:ext cx="8399145" cy="728980"/>
          </a:xfrm>
          <a:custGeom>
            <a:avLst/>
            <a:gdLst/>
            <a:ahLst/>
            <a:cxnLst/>
            <a:rect l="l" t="t" r="r" b="b"/>
            <a:pathLst>
              <a:path w="8399145" h="728979">
                <a:moveTo>
                  <a:pt x="8035147" y="728858"/>
                </a:moveTo>
                <a:lnTo>
                  <a:pt x="364429" y="728858"/>
                </a:lnTo>
                <a:lnTo>
                  <a:pt x="316527" y="725698"/>
                </a:lnTo>
                <a:lnTo>
                  <a:pt x="269851" y="716373"/>
                </a:lnTo>
                <a:lnTo>
                  <a:pt x="224968" y="701118"/>
                </a:lnTo>
                <a:lnTo>
                  <a:pt x="182444" y="680168"/>
                </a:lnTo>
                <a:lnTo>
                  <a:pt x="142845" y="653757"/>
                </a:lnTo>
                <a:lnTo>
                  <a:pt x="106739" y="622120"/>
                </a:lnTo>
                <a:lnTo>
                  <a:pt x="75101" y="586013"/>
                </a:lnTo>
                <a:lnTo>
                  <a:pt x="48690" y="546414"/>
                </a:lnTo>
                <a:lnTo>
                  <a:pt x="27740" y="503890"/>
                </a:lnTo>
                <a:lnTo>
                  <a:pt x="12485" y="459007"/>
                </a:lnTo>
                <a:lnTo>
                  <a:pt x="3160" y="412331"/>
                </a:lnTo>
                <a:lnTo>
                  <a:pt x="0" y="364429"/>
                </a:lnTo>
                <a:lnTo>
                  <a:pt x="3160" y="316527"/>
                </a:lnTo>
                <a:lnTo>
                  <a:pt x="12485" y="269851"/>
                </a:lnTo>
                <a:lnTo>
                  <a:pt x="27740" y="224968"/>
                </a:lnTo>
                <a:lnTo>
                  <a:pt x="48690" y="182444"/>
                </a:lnTo>
                <a:lnTo>
                  <a:pt x="75101" y="142845"/>
                </a:lnTo>
                <a:lnTo>
                  <a:pt x="106739" y="106738"/>
                </a:lnTo>
                <a:lnTo>
                  <a:pt x="142845" y="75101"/>
                </a:lnTo>
                <a:lnTo>
                  <a:pt x="182444" y="48690"/>
                </a:lnTo>
                <a:lnTo>
                  <a:pt x="224968" y="27740"/>
                </a:lnTo>
                <a:lnTo>
                  <a:pt x="269851" y="12485"/>
                </a:lnTo>
                <a:lnTo>
                  <a:pt x="316527" y="3160"/>
                </a:lnTo>
                <a:lnTo>
                  <a:pt x="364429" y="0"/>
                </a:lnTo>
                <a:lnTo>
                  <a:pt x="8035147" y="0"/>
                </a:lnTo>
                <a:lnTo>
                  <a:pt x="8083049" y="3160"/>
                </a:lnTo>
                <a:lnTo>
                  <a:pt x="8129725" y="12485"/>
                </a:lnTo>
                <a:lnTo>
                  <a:pt x="8174609" y="27740"/>
                </a:lnTo>
                <a:lnTo>
                  <a:pt x="8217133" y="48690"/>
                </a:lnTo>
                <a:lnTo>
                  <a:pt x="8256731" y="75101"/>
                </a:lnTo>
                <a:lnTo>
                  <a:pt x="8292838" y="106738"/>
                </a:lnTo>
                <a:lnTo>
                  <a:pt x="8324475" y="142845"/>
                </a:lnTo>
                <a:lnTo>
                  <a:pt x="8350886" y="182444"/>
                </a:lnTo>
                <a:lnTo>
                  <a:pt x="8371836" y="224968"/>
                </a:lnTo>
                <a:lnTo>
                  <a:pt x="8387091" y="269851"/>
                </a:lnTo>
                <a:lnTo>
                  <a:pt x="8396416" y="316527"/>
                </a:lnTo>
                <a:lnTo>
                  <a:pt x="8398958" y="355059"/>
                </a:lnTo>
                <a:lnTo>
                  <a:pt x="8398958" y="373799"/>
                </a:lnTo>
                <a:lnTo>
                  <a:pt x="8396416" y="412331"/>
                </a:lnTo>
                <a:lnTo>
                  <a:pt x="8387091" y="459007"/>
                </a:lnTo>
                <a:lnTo>
                  <a:pt x="8371836" y="503890"/>
                </a:lnTo>
                <a:lnTo>
                  <a:pt x="8350886" y="546414"/>
                </a:lnTo>
                <a:lnTo>
                  <a:pt x="8324475" y="586013"/>
                </a:lnTo>
                <a:lnTo>
                  <a:pt x="8292838" y="622120"/>
                </a:lnTo>
                <a:lnTo>
                  <a:pt x="8256731" y="653757"/>
                </a:lnTo>
                <a:lnTo>
                  <a:pt x="8217133" y="680168"/>
                </a:lnTo>
                <a:lnTo>
                  <a:pt x="8174609" y="701118"/>
                </a:lnTo>
                <a:lnTo>
                  <a:pt x="8129725" y="716373"/>
                </a:lnTo>
                <a:lnTo>
                  <a:pt x="8083049" y="725698"/>
                </a:lnTo>
                <a:lnTo>
                  <a:pt x="8035147" y="728858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9709" y="5359522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9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5"/>
                </a:lnTo>
                <a:lnTo>
                  <a:pt x="135587" y="624593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7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7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3"/>
                </a:lnTo>
                <a:lnTo>
                  <a:pt x="524568" y="649635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9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8402" y="5310552"/>
            <a:ext cx="8399145" cy="1313180"/>
          </a:xfrm>
          <a:custGeom>
            <a:avLst/>
            <a:gdLst/>
            <a:ahLst/>
            <a:cxnLst/>
            <a:rect l="l" t="t" r="r" b="b"/>
            <a:pathLst>
              <a:path w="8399145" h="1313179">
                <a:moveTo>
                  <a:pt x="7913801" y="1312620"/>
                </a:moveTo>
                <a:lnTo>
                  <a:pt x="485774" y="1312620"/>
                </a:lnTo>
                <a:lnTo>
                  <a:pt x="438991" y="1310396"/>
                </a:lnTo>
                <a:lnTo>
                  <a:pt x="393466" y="1303861"/>
                </a:lnTo>
                <a:lnTo>
                  <a:pt x="349403" y="1293217"/>
                </a:lnTo>
                <a:lnTo>
                  <a:pt x="307004" y="1278669"/>
                </a:lnTo>
                <a:lnTo>
                  <a:pt x="266475" y="1260419"/>
                </a:lnTo>
                <a:lnTo>
                  <a:pt x="228018" y="1238672"/>
                </a:lnTo>
                <a:lnTo>
                  <a:pt x="191838" y="1213632"/>
                </a:lnTo>
                <a:lnTo>
                  <a:pt x="158137" y="1185501"/>
                </a:lnTo>
                <a:lnTo>
                  <a:pt x="127119" y="1154483"/>
                </a:lnTo>
                <a:lnTo>
                  <a:pt x="98988" y="1120782"/>
                </a:lnTo>
                <a:lnTo>
                  <a:pt x="73947" y="1084601"/>
                </a:lnTo>
                <a:lnTo>
                  <a:pt x="52200" y="1046144"/>
                </a:lnTo>
                <a:lnTo>
                  <a:pt x="33951" y="1005615"/>
                </a:lnTo>
                <a:lnTo>
                  <a:pt x="19402" y="963217"/>
                </a:lnTo>
                <a:lnTo>
                  <a:pt x="8759" y="919154"/>
                </a:lnTo>
                <a:lnTo>
                  <a:pt x="2223" y="873628"/>
                </a:lnTo>
                <a:lnTo>
                  <a:pt x="0" y="826845"/>
                </a:lnTo>
                <a:lnTo>
                  <a:pt x="0" y="485775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3"/>
                </a:lnTo>
                <a:lnTo>
                  <a:pt x="33951" y="307005"/>
                </a:lnTo>
                <a:lnTo>
                  <a:pt x="52200" y="266475"/>
                </a:lnTo>
                <a:lnTo>
                  <a:pt x="73947" y="228019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3" y="19403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7913801" y="0"/>
                </a:lnTo>
                <a:lnTo>
                  <a:pt x="7960584" y="2223"/>
                </a:lnTo>
                <a:lnTo>
                  <a:pt x="8006110" y="8759"/>
                </a:lnTo>
                <a:lnTo>
                  <a:pt x="8050173" y="19403"/>
                </a:lnTo>
                <a:lnTo>
                  <a:pt x="8092571" y="33951"/>
                </a:lnTo>
                <a:lnTo>
                  <a:pt x="8133100" y="52200"/>
                </a:lnTo>
                <a:lnTo>
                  <a:pt x="8171557" y="73947"/>
                </a:lnTo>
                <a:lnTo>
                  <a:pt x="8207738" y="98988"/>
                </a:lnTo>
                <a:lnTo>
                  <a:pt x="8241439" y="127119"/>
                </a:lnTo>
                <a:lnTo>
                  <a:pt x="8272457" y="158137"/>
                </a:lnTo>
                <a:lnTo>
                  <a:pt x="8300588" y="191838"/>
                </a:lnTo>
                <a:lnTo>
                  <a:pt x="8325628" y="228019"/>
                </a:lnTo>
                <a:lnTo>
                  <a:pt x="8347375" y="266475"/>
                </a:lnTo>
                <a:lnTo>
                  <a:pt x="8365625" y="307005"/>
                </a:lnTo>
                <a:lnTo>
                  <a:pt x="8380173" y="349403"/>
                </a:lnTo>
                <a:lnTo>
                  <a:pt x="8390817" y="393466"/>
                </a:lnTo>
                <a:lnTo>
                  <a:pt x="8397352" y="438991"/>
                </a:lnTo>
                <a:lnTo>
                  <a:pt x="8398720" y="467773"/>
                </a:lnTo>
                <a:lnTo>
                  <a:pt x="8398720" y="844846"/>
                </a:lnTo>
                <a:lnTo>
                  <a:pt x="8390817" y="919154"/>
                </a:lnTo>
                <a:lnTo>
                  <a:pt x="8380173" y="963217"/>
                </a:lnTo>
                <a:lnTo>
                  <a:pt x="8365625" y="1005615"/>
                </a:lnTo>
                <a:lnTo>
                  <a:pt x="8347375" y="1046144"/>
                </a:lnTo>
                <a:lnTo>
                  <a:pt x="8325628" y="1084601"/>
                </a:lnTo>
                <a:lnTo>
                  <a:pt x="8300588" y="1120782"/>
                </a:lnTo>
                <a:lnTo>
                  <a:pt x="8272457" y="1154483"/>
                </a:lnTo>
                <a:lnTo>
                  <a:pt x="8241439" y="1185501"/>
                </a:lnTo>
                <a:lnTo>
                  <a:pt x="8207738" y="1213632"/>
                </a:lnTo>
                <a:lnTo>
                  <a:pt x="8171557" y="1238672"/>
                </a:lnTo>
                <a:lnTo>
                  <a:pt x="8133100" y="1260419"/>
                </a:lnTo>
                <a:lnTo>
                  <a:pt x="8092571" y="1278669"/>
                </a:lnTo>
                <a:lnTo>
                  <a:pt x="8050173" y="1293217"/>
                </a:lnTo>
                <a:lnTo>
                  <a:pt x="8006110" y="1303861"/>
                </a:lnTo>
                <a:lnTo>
                  <a:pt x="7960584" y="1310396"/>
                </a:lnTo>
                <a:lnTo>
                  <a:pt x="7913801" y="1312620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39709" y="7247087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9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5"/>
                </a:lnTo>
                <a:lnTo>
                  <a:pt x="135587" y="624593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7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7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3"/>
                </a:lnTo>
                <a:lnTo>
                  <a:pt x="524568" y="649635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9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14921" y="7185149"/>
            <a:ext cx="8399780" cy="1273810"/>
          </a:xfrm>
          <a:custGeom>
            <a:avLst/>
            <a:gdLst/>
            <a:ahLst/>
            <a:cxnLst/>
            <a:rect l="l" t="t" r="r" b="b"/>
            <a:pathLst>
              <a:path w="8399780" h="1273809">
                <a:moveTo>
                  <a:pt x="7913802" y="1273228"/>
                </a:moveTo>
                <a:lnTo>
                  <a:pt x="485774" y="1273228"/>
                </a:lnTo>
                <a:lnTo>
                  <a:pt x="438991" y="1271004"/>
                </a:lnTo>
                <a:lnTo>
                  <a:pt x="393466" y="1264468"/>
                </a:lnTo>
                <a:lnTo>
                  <a:pt x="349402" y="1253825"/>
                </a:lnTo>
                <a:lnTo>
                  <a:pt x="307004" y="1239276"/>
                </a:lnTo>
                <a:lnTo>
                  <a:pt x="266475" y="1221027"/>
                </a:lnTo>
                <a:lnTo>
                  <a:pt x="228018" y="1199280"/>
                </a:lnTo>
                <a:lnTo>
                  <a:pt x="191838" y="1174239"/>
                </a:lnTo>
                <a:lnTo>
                  <a:pt x="158137" y="1146108"/>
                </a:lnTo>
                <a:lnTo>
                  <a:pt x="127119" y="1115091"/>
                </a:lnTo>
                <a:lnTo>
                  <a:pt x="98988" y="1081389"/>
                </a:lnTo>
                <a:lnTo>
                  <a:pt x="73947" y="1045209"/>
                </a:lnTo>
                <a:lnTo>
                  <a:pt x="52200" y="1006752"/>
                </a:lnTo>
                <a:lnTo>
                  <a:pt x="33951" y="966223"/>
                </a:lnTo>
                <a:lnTo>
                  <a:pt x="19402" y="923825"/>
                </a:lnTo>
                <a:lnTo>
                  <a:pt x="8759" y="879761"/>
                </a:lnTo>
                <a:lnTo>
                  <a:pt x="2223" y="834236"/>
                </a:lnTo>
                <a:lnTo>
                  <a:pt x="0" y="787453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3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9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7913802" y="0"/>
                </a:lnTo>
                <a:lnTo>
                  <a:pt x="7960585" y="2223"/>
                </a:lnTo>
                <a:lnTo>
                  <a:pt x="8006110" y="8759"/>
                </a:lnTo>
                <a:lnTo>
                  <a:pt x="8050174" y="19402"/>
                </a:lnTo>
                <a:lnTo>
                  <a:pt x="8092572" y="33951"/>
                </a:lnTo>
                <a:lnTo>
                  <a:pt x="8133101" y="52200"/>
                </a:lnTo>
                <a:lnTo>
                  <a:pt x="8171558" y="73947"/>
                </a:lnTo>
                <a:lnTo>
                  <a:pt x="8207738" y="98988"/>
                </a:lnTo>
                <a:lnTo>
                  <a:pt x="8241439" y="127119"/>
                </a:lnTo>
                <a:lnTo>
                  <a:pt x="8272457" y="158137"/>
                </a:lnTo>
                <a:lnTo>
                  <a:pt x="8300588" y="191838"/>
                </a:lnTo>
                <a:lnTo>
                  <a:pt x="8325629" y="228019"/>
                </a:lnTo>
                <a:lnTo>
                  <a:pt x="8347376" y="266475"/>
                </a:lnTo>
                <a:lnTo>
                  <a:pt x="8365625" y="307004"/>
                </a:lnTo>
                <a:lnTo>
                  <a:pt x="8380174" y="349403"/>
                </a:lnTo>
                <a:lnTo>
                  <a:pt x="8390817" y="393466"/>
                </a:lnTo>
                <a:lnTo>
                  <a:pt x="8397353" y="438991"/>
                </a:lnTo>
                <a:lnTo>
                  <a:pt x="8399577" y="485774"/>
                </a:lnTo>
                <a:lnTo>
                  <a:pt x="8399577" y="787453"/>
                </a:lnTo>
                <a:lnTo>
                  <a:pt x="8397353" y="834236"/>
                </a:lnTo>
                <a:lnTo>
                  <a:pt x="8390817" y="879761"/>
                </a:lnTo>
                <a:lnTo>
                  <a:pt x="8380174" y="923825"/>
                </a:lnTo>
                <a:lnTo>
                  <a:pt x="8365625" y="966223"/>
                </a:lnTo>
                <a:lnTo>
                  <a:pt x="8347376" y="1006752"/>
                </a:lnTo>
                <a:lnTo>
                  <a:pt x="8325629" y="1045209"/>
                </a:lnTo>
                <a:lnTo>
                  <a:pt x="8300588" y="1081389"/>
                </a:lnTo>
                <a:lnTo>
                  <a:pt x="8272457" y="1115091"/>
                </a:lnTo>
                <a:lnTo>
                  <a:pt x="8241439" y="1146108"/>
                </a:lnTo>
                <a:lnTo>
                  <a:pt x="8207738" y="1174239"/>
                </a:lnTo>
                <a:lnTo>
                  <a:pt x="8171558" y="1199280"/>
                </a:lnTo>
                <a:lnTo>
                  <a:pt x="8133101" y="1221027"/>
                </a:lnTo>
                <a:lnTo>
                  <a:pt x="8092572" y="1239276"/>
                </a:lnTo>
                <a:lnTo>
                  <a:pt x="8050174" y="1253825"/>
                </a:lnTo>
                <a:lnTo>
                  <a:pt x="8006110" y="1264468"/>
                </a:lnTo>
                <a:lnTo>
                  <a:pt x="7960585" y="1271004"/>
                </a:lnTo>
                <a:lnTo>
                  <a:pt x="7913802" y="1273228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9709" y="8909684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8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4"/>
                </a:lnTo>
                <a:lnTo>
                  <a:pt x="135587" y="624592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6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6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2"/>
                </a:lnTo>
                <a:lnTo>
                  <a:pt x="524568" y="649634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8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47041" y="8817252"/>
            <a:ext cx="8398510" cy="1153160"/>
          </a:xfrm>
          <a:custGeom>
            <a:avLst/>
            <a:gdLst/>
            <a:ahLst/>
            <a:cxnLst/>
            <a:rect l="l" t="t" r="r" b="b"/>
            <a:pathLst>
              <a:path w="8398510" h="1153159">
                <a:moveTo>
                  <a:pt x="7913802" y="1152804"/>
                </a:moveTo>
                <a:lnTo>
                  <a:pt x="485775" y="1152804"/>
                </a:lnTo>
                <a:lnTo>
                  <a:pt x="438991" y="1150580"/>
                </a:lnTo>
                <a:lnTo>
                  <a:pt x="393466" y="1144044"/>
                </a:lnTo>
                <a:lnTo>
                  <a:pt x="349403" y="1133401"/>
                </a:lnTo>
                <a:lnTo>
                  <a:pt x="307004" y="1118852"/>
                </a:lnTo>
                <a:lnTo>
                  <a:pt x="266475" y="1100603"/>
                </a:lnTo>
                <a:lnTo>
                  <a:pt x="228019" y="1078856"/>
                </a:lnTo>
                <a:lnTo>
                  <a:pt x="191838" y="1053816"/>
                </a:lnTo>
                <a:lnTo>
                  <a:pt x="158137" y="1025684"/>
                </a:lnTo>
                <a:lnTo>
                  <a:pt x="127119" y="994667"/>
                </a:lnTo>
                <a:lnTo>
                  <a:pt x="98988" y="960966"/>
                </a:lnTo>
                <a:lnTo>
                  <a:pt x="73947" y="924785"/>
                </a:lnTo>
                <a:lnTo>
                  <a:pt x="52200" y="886328"/>
                </a:lnTo>
                <a:lnTo>
                  <a:pt x="33951" y="845799"/>
                </a:lnTo>
                <a:lnTo>
                  <a:pt x="19402" y="803401"/>
                </a:lnTo>
                <a:lnTo>
                  <a:pt x="8759" y="759337"/>
                </a:lnTo>
                <a:lnTo>
                  <a:pt x="2223" y="713812"/>
                </a:lnTo>
                <a:lnTo>
                  <a:pt x="0" y="667029"/>
                </a:lnTo>
                <a:lnTo>
                  <a:pt x="0" y="485775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3"/>
                </a:lnTo>
                <a:lnTo>
                  <a:pt x="33951" y="307005"/>
                </a:lnTo>
                <a:lnTo>
                  <a:pt x="52200" y="266476"/>
                </a:lnTo>
                <a:lnTo>
                  <a:pt x="73947" y="228019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9" y="73947"/>
                </a:lnTo>
                <a:lnTo>
                  <a:pt x="266475" y="52201"/>
                </a:lnTo>
                <a:lnTo>
                  <a:pt x="307004" y="33951"/>
                </a:lnTo>
                <a:lnTo>
                  <a:pt x="349403" y="19403"/>
                </a:lnTo>
                <a:lnTo>
                  <a:pt x="393466" y="8759"/>
                </a:lnTo>
                <a:lnTo>
                  <a:pt x="438991" y="2224"/>
                </a:lnTo>
                <a:lnTo>
                  <a:pt x="485775" y="0"/>
                </a:lnTo>
                <a:lnTo>
                  <a:pt x="7913802" y="0"/>
                </a:lnTo>
                <a:lnTo>
                  <a:pt x="7960585" y="2224"/>
                </a:lnTo>
                <a:lnTo>
                  <a:pt x="8006111" y="8759"/>
                </a:lnTo>
                <a:lnTo>
                  <a:pt x="8050174" y="19403"/>
                </a:lnTo>
                <a:lnTo>
                  <a:pt x="8092572" y="33951"/>
                </a:lnTo>
                <a:lnTo>
                  <a:pt x="8133102" y="52201"/>
                </a:lnTo>
                <a:lnTo>
                  <a:pt x="8171558" y="73947"/>
                </a:lnTo>
                <a:lnTo>
                  <a:pt x="8207739" y="98988"/>
                </a:lnTo>
                <a:lnTo>
                  <a:pt x="8241440" y="127119"/>
                </a:lnTo>
                <a:lnTo>
                  <a:pt x="8272458" y="158137"/>
                </a:lnTo>
                <a:lnTo>
                  <a:pt x="8300589" y="191838"/>
                </a:lnTo>
                <a:lnTo>
                  <a:pt x="8325630" y="228019"/>
                </a:lnTo>
                <a:lnTo>
                  <a:pt x="8347377" y="266476"/>
                </a:lnTo>
                <a:lnTo>
                  <a:pt x="8365627" y="307005"/>
                </a:lnTo>
                <a:lnTo>
                  <a:pt x="8380175" y="349403"/>
                </a:lnTo>
                <a:lnTo>
                  <a:pt x="8390819" y="393466"/>
                </a:lnTo>
                <a:lnTo>
                  <a:pt x="8397354" y="438991"/>
                </a:lnTo>
                <a:lnTo>
                  <a:pt x="8398359" y="460129"/>
                </a:lnTo>
                <a:lnTo>
                  <a:pt x="8398359" y="692675"/>
                </a:lnTo>
                <a:lnTo>
                  <a:pt x="8390819" y="759337"/>
                </a:lnTo>
                <a:lnTo>
                  <a:pt x="8380175" y="803401"/>
                </a:lnTo>
                <a:lnTo>
                  <a:pt x="8365627" y="845799"/>
                </a:lnTo>
                <a:lnTo>
                  <a:pt x="8347377" y="886328"/>
                </a:lnTo>
                <a:lnTo>
                  <a:pt x="8325630" y="924785"/>
                </a:lnTo>
                <a:lnTo>
                  <a:pt x="8300589" y="960966"/>
                </a:lnTo>
                <a:lnTo>
                  <a:pt x="8272458" y="994667"/>
                </a:lnTo>
                <a:lnTo>
                  <a:pt x="8241440" y="1025684"/>
                </a:lnTo>
                <a:lnTo>
                  <a:pt x="8207739" y="1053816"/>
                </a:lnTo>
                <a:lnTo>
                  <a:pt x="8171558" y="1078856"/>
                </a:lnTo>
                <a:lnTo>
                  <a:pt x="8133102" y="1100603"/>
                </a:lnTo>
                <a:lnTo>
                  <a:pt x="8092572" y="1118852"/>
                </a:lnTo>
                <a:lnTo>
                  <a:pt x="8050174" y="1133401"/>
                </a:lnTo>
                <a:lnTo>
                  <a:pt x="8006111" y="1144044"/>
                </a:lnTo>
                <a:lnTo>
                  <a:pt x="7960585" y="1150580"/>
                </a:lnTo>
                <a:lnTo>
                  <a:pt x="7913802" y="1152804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1964806" y="4275146"/>
            <a:ext cx="4882515" cy="3514725"/>
            <a:chOff x="11964806" y="4275146"/>
            <a:chExt cx="4882515" cy="3514725"/>
          </a:xfrm>
        </p:grpSpPr>
        <p:sp>
          <p:nvSpPr>
            <p:cNvPr id="13" name="object 13"/>
            <p:cNvSpPr/>
            <p:nvPr/>
          </p:nvSpPr>
          <p:spPr>
            <a:xfrm>
              <a:off x="12700965" y="4285403"/>
              <a:ext cx="3100705" cy="2092960"/>
            </a:xfrm>
            <a:custGeom>
              <a:avLst/>
              <a:gdLst/>
              <a:ahLst/>
              <a:cxnLst/>
              <a:rect l="l" t="t" r="r" b="b"/>
              <a:pathLst>
                <a:path w="3100705" h="2092960">
                  <a:moveTo>
                    <a:pt x="3100601" y="2092754"/>
                  </a:moveTo>
                  <a:lnTo>
                    <a:pt x="0" y="2092754"/>
                  </a:lnTo>
                  <a:lnTo>
                    <a:pt x="0" y="0"/>
                  </a:lnTo>
                  <a:lnTo>
                    <a:pt x="3100601" y="0"/>
                  </a:lnTo>
                  <a:lnTo>
                    <a:pt x="3100601" y="2092754"/>
                  </a:lnTo>
                  <a:close/>
                </a:path>
              </a:pathLst>
            </a:custGeom>
            <a:solidFill>
              <a:srgbClr val="EFF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690704" y="4275149"/>
              <a:ext cx="3121025" cy="2113280"/>
            </a:xfrm>
            <a:custGeom>
              <a:avLst/>
              <a:gdLst/>
              <a:ahLst/>
              <a:cxnLst/>
              <a:rect l="l" t="t" r="r" b="b"/>
              <a:pathLst>
                <a:path w="3121025" h="2113279">
                  <a:moveTo>
                    <a:pt x="828205" y="260375"/>
                  </a:moveTo>
                  <a:lnTo>
                    <a:pt x="807694" y="260375"/>
                  </a:lnTo>
                  <a:lnTo>
                    <a:pt x="807694" y="333756"/>
                  </a:lnTo>
                  <a:lnTo>
                    <a:pt x="828205" y="333756"/>
                  </a:lnTo>
                  <a:lnTo>
                    <a:pt x="828205" y="260375"/>
                  </a:lnTo>
                  <a:close/>
                </a:path>
                <a:path w="3121025" h="2113279">
                  <a:moveTo>
                    <a:pt x="1331874" y="616496"/>
                  </a:moveTo>
                  <a:lnTo>
                    <a:pt x="1258493" y="616496"/>
                  </a:lnTo>
                  <a:lnTo>
                    <a:pt x="1258493" y="637006"/>
                  </a:lnTo>
                  <a:lnTo>
                    <a:pt x="1331874" y="637006"/>
                  </a:lnTo>
                  <a:lnTo>
                    <a:pt x="1331874" y="616496"/>
                  </a:lnTo>
                  <a:close/>
                </a:path>
                <a:path w="3121025" h="2113279">
                  <a:moveTo>
                    <a:pt x="1478889" y="616496"/>
                  </a:moveTo>
                  <a:lnTo>
                    <a:pt x="1405509" y="616496"/>
                  </a:lnTo>
                  <a:lnTo>
                    <a:pt x="1405509" y="637006"/>
                  </a:lnTo>
                  <a:lnTo>
                    <a:pt x="1478889" y="637006"/>
                  </a:lnTo>
                  <a:lnTo>
                    <a:pt x="1478889" y="616496"/>
                  </a:lnTo>
                  <a:close/>
                </a:path>
                <a:path w="3121025" h="2113279">
                  <a:moveTo>
                    <a:pt x="1625650" y="616496"/>
                  </a:moveTo>
                  <a:lnTo>
                    <a:pt x="1552270" y="616496"/>
                  </a:lnTo>
                  <a:lnTo>
                    <a:pt x="1552270" y="637006"/>
                  </a:lnTo>
                  <a:lnTo>
                    <a:pt x="1625650" y="637006"/>
                  </a:lnTo>
                  <a:lnTo>
                    <a:pt x="1625650" y="616496"/>
                  </a:lnTo>
                  <a:close/>
                </a:path>
                <a:path w="3121025" h="2113279">
                  <a:moveTo>
                    <a:pt x="1772666" y="616496"/>
                  </a:moveTo>
                  <a:lnTo>
                    <a:pt x="1699031" y="616496"/>
                  </a:lnTo>
                  <a:lnTo>
                    <a:pt x="1699031" y="637006"/>
                  </a:lnTo>
                  <a:lnTo>
                    <a:pt x="1772666" y="637006"/>
                  </a:lnTo>
                  <a:lnTo>
                    <a:pt x="1772666" y="616496"/>
                  </a:lnTo>
                  <a:close/>
                </a:path>
                <a:path w="3121025" h="2113279">
                  <a:moveTo>
                    <a:pt x="1919427" y="616496"/>
                  </a:moveTo>
                  <a:lnTo>
                    <a:pt x="1846046" y="616496"/>
                  </a:lnTo>
                  <a:lnTo>
                    <a:pt x="1846046" y="637006"/>
                  </a:lnTo>
                  <a:lnTo>
                    <a:pt x="1919427" y="637006"/>
                  </a:lnTo>
                  <a:lnTo>
                    <a:pt x="1919427" y="616496"/>
                  </a:lnTo>
                  <a:close/>
                </a:path>
                <a:path w="3121025" h="2113279">
                  <a:moveTo>
                    <a:pt x="2066188" y="616496"/>
                  </a:moveTo>
                  <a:lnTo>
                    <a:pt x="1992807" y="616496"/>
                  </a:lnTo>
                  <a:lnTo>
                    <a:pt x="1992807" y="637006"/>
                  </a:lnTo>
                  <a:lnTo>
                    <a:pt x="2066188" y="637006"/>
                  </a:lnTo>
                  <a:lnTo>
                    <a:pt x="2066188" y="616496"/>
                  </a:lnTo>
                  <a:close/>
                </a:path>
                <a:path w="3121025" h="2113279">
                  <a:moveTo>
                    <a:pt x="2213216" y="616496"/>
                  </a:moveTo>
                  <a:lnTo>
                    <a:pt x="2139835" y="616496"/>
                  </a:lnTo>
                  <a:lnTo>
                    <a:pt x="2139835" y="637006"/>
                  </a:lnTo>
                  <a:lnTo>
                    <a:pt x="2213216" y="637006"/>
                  </a:lnTo>
                  <a:lnTo>
                    <a:pt x="2213216" y="616496"/>
                  </a:lnTo>
                  <a:close/>
                </a:path>
                <a:path w="3121025" h="2113279">
                  <a:moveTo>
                    <a:pt x="2359964" y="616496"/>
                  </a:moveTo>
                  <a:lnTo>
                    <a:pt x="2286584" y="616496"/>
                  </a:lnTo>
                  <a:lnTo>
                    <a:pt x="2286584" y="637006"/>
                  </a:lnTo>
                  <a:lnTo>
                    <a:pt x="2359964" y="637006"/>
                  </a:lnTo>
                  <a:lnTo>
                    <a:pt x="2359964" y="616496"/>
                  </a:lnTo>
                  <a:close/>
                </a:path>
                <a:path w="3121025" h="2113279">
                  <a:moveTo>
                    <a:pt x="2492527" y="601980"/>
                  </a:moveTo>
                  <a:lnTo>
                    <a:pt x="2472004" y="601980"/>
                  </a:lnTo>
                  <a:lnTo>
                    <a:pt x="2472004" y="615950"/>
                  </a:lnTo>
                  <a:lnTo>
                    <a:pt x="2433345" y="615950"/>
                  </a:lnTo>
                  <a:lnTo>
                    <a:pt x="2433345" y="637540"/>
                  </a:lnTo>
                  <a:lnTo>
                    <a:pt x="2492527" y="637540"/>
                  </a:lnTo>
                  <a:lnTo>
                    <a:pt x="2492527" y="615950"/>
                  </a:lnTo>
                  <a:lnTo>
                    <a:pt x="2492527" y="601980"/>
                  </a:lnTo>
                  <a:close/>
                </a:path>
                <a:path w="3121025" h="2113279">
                  <a:moveTo>
                    <a:pt x="2492527" y="455536"/>
                  </a:moveTo>
                  <a:lnTo>
                    <a:pt x="2472004" y="455536"/>
                  </a:lnTo>
                  <a:lnTo>
                    <a:pt x="2472004" y="528916"/>
                  </a:lnTo>
                  <a:lnTo>
                    <a:pt x="2492527" y="528916"/>
                  </a:lnTo>
                  <a:lnTo>
                    <a:pt x="2492527" y="455536"/>
                  </a:lnTo>
                  <a:close/>
                </a:path>
                <a:path w="3121025" h="2113279">
                  <a:moveTo>
                    <a:pt x="2492527" y="308508"/>
                  </a:moveTo>
                  <a:lnTo>
                    <a:pt x="2472004" y="308508"/>
                  </a:lnTo>
                  <a:lnTo>
                    <a:pt x="2472004" y="381889"/>
                  </a:lnTo>
                  <a:lnTo>
                    <a:pt x="2492527" y="381889"/>
                  </a:lnTo>
                  <a:lnTo>
                    <a:pt x="2492527" y="308508"/>
                  </a:lnTo>
                  <a:close/>
                </a:path>
                <a:path w="3121025" h="2113279">
                  <a:moveTo>
                    <a:pt x="2492527" y="187960"/>
                  </a:moveTo>
                  <a:lnTo>
                    <a:pt x="2445181" y="187960"/>
                  </a:lnTo>
                  <a:lnTo>
                    <a:pt x="2445181" y="209550"/>
                  </a:lnTo>
                  <a:lnTo>
                    <a:pt x="2472004" y="209550"/>
                  </a:lnTo>
                  <a:lnTo>
                    <a:pt x="2472004" y="234950"/>
                  </a:lnTo>
                  <a:lnTo>
                    <a:pt x="2492527" y="234950"/>
                  </a:lnTo>
                  <a:lnTo>
                    <a:pt x="2492527" y="209550"/>
                  </a:lnTo>
                  <a:lnTo>
                    <a:pt x="2492527" y="187960"/>
                  </a:lnTo>
                  <a:close/>
                </a:path>
                <a:path w="3121025" h="2113279">
                  <a:moveTo>
                    <a:pt x="3120847" y="2092960"/>
                  </a:moveTo>
                  <a:lnTo>
                    <a:pt x="20243" y="2092960"/>
                  </a:lnTo>
                  <a:lnTo>
                    <a:pt x="20243" y="785876"/>
                  </a:lnTo>
                  <a:lnTo>
                    <a:pt x="0" y="785876"/>
                  </a:lnTo>
                  <a:lnTo>
                    <a:pt x="0" y="2092960"/>
                  </a:lnTo>
                  <a:lnTo>
                    <a:pt x="0" y="2113280"/>
                  </a:lnTo>
                  <a:lnTo>
                    <a:pt x="3120847" y="2113280"/>
                  </a:lnTo>
                  <a:lnTo>
                    <a:pt x="3120847" y="2092960"/>
                  </a:lnTo>
                  <a:close/>
                </a:path>
                <a:path w="3121025" h="2113279">
                  <a:moveTo>
                    <a:pt x="3120847" y="20523"/>
                  </a:moveTo>
                  <a:lnTo>
                    <a:pt x="3100336" y="20523"/>
                  </a:lnTo>
                  <a:lnTo>
                    <a:pt x="3100336" y="2092756"/>
                  </a:lnTo>
                  <a:lnTo>
                    <a:pt x="3120847" y="2092756"/>
                  </a:lnTo>
                  <a:lnTo>
                    <a:pt x="3120847" y="20523"/>
                  </a:lnTo>
                  <a:close/>
                </a:path>
                <a:path w="3121025" h="2113279">
                  <a:moveTo>
                    <a:pt x="3120847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357962"/>
                  </a:lnTo>
                  <a:lnTo>
                    <a:pt x="20243" y="357962"/>
                  </a:lnTo>
                  <a:lnTo>
                    <a:pt x="20243" y="20320"/>
                  </a:lnTo>
                  <a:lnTo>
                    <a:pt x="3120847" y="20320"/>
                  </a:lnTo>
                  <a:lnTo>
                    <a:pt x="3120847" y="0"/>
                  </a:lnTo>
                  <a:close/>
                </a:path>
              </a:pathLst>
            </a:custGeom>
            <a:solidFill>
              <a:srgbClr val="3337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520498" y="4473980"/>
              <a:ext cx="1542415" cy="0"/>
            </a:xfrm>
            <a:custGeom>
              <a:avLst/>
              <a:gdLst/>
              <a:ahLst/>
              <a:cxnLst/>
              <a:rect l="l" t="t" r="r" b="b"/>
              <a:pathLst>
                <a:path w="1542415">
                  <a:moveTo>
                    <a:pt x="0" y="0"/>
                  </a:moveTo>
                  <a:lnTo>
                    <a:pt x="1542016" y="0"/>
                  </a:lnTo>
                </a:path>
              </a:pathLst>
            </a:custGeom>
            <a:ln w="20514">
              <a:solidFill>
                <a:srgbClr val="33373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64806" y="4623126"/>
              <a:ext cx="4881954" cy="3166596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161" rIns="0" bIns="0" rtlCol="0">
            <a:spAutoFit/>
          </a:bodyPr>
          <a:lstStyle/>
          <a:p>
            <a:pPr marL="3270885">
              <a:lnSpc>
                <a:spcPct val="100000"/>
              </a:lnSpc>
              <a:spcBef>
                <a:spcPts val="100"/>
              </a:spcBef>
            </a:pPr>
            <a:r>
              <a:rPr sz="7000" dirty="0">
                <a:solidFill>
                  <a:srgbClr val="333733"/>
                </a:solidFill>
              </a:rPr>
              <a:t>Qanaqa</a:t>
            </a:r>
            <a:r>
              <a:rPr sz="7000" spc="-130" dirty="0">
                <a:solidFill>
                  <a:srgbClr val="333733"/>
                </a:solidFill>
              </a:rPr>
              <a:t> </a:t>
            </a:r>
            <a:r>
              <a:rPr sz="7000" dirty="0">
                <a:solidFill>
                  <a:srgbClr val="333733"/>
                </a:solidFill>
              </a:rPr>
              <a:t>yechimlar</a:t>
            </a:r>
            <a:r>
              <a:rPr sz="7000" spc="-245" dirty="0">
                <a:solidFill>
                  <a:srgbClr val="333733"/>
                </a:solidFill>
              </a:rPr>
              <a:t> </a:t>
            </a:r>
            <a:r>
              <a:rPr sz="7000" spc="-10" dirty="0">
                <a:solidFill>
                  <a:srgbClr val="333733"/>
                </a:solidFill>
              </a:rPr>
              <a:t>topildi</a:t>
            </a:r>
            <a:endParaRPr sz="7000"/>
          </a:p>
        </p:txBody>
      </p:sp>
      <p:sp>
        <p:nvSpPr>
          <p:cNvPr id="18" name="object 18"/>
          <p:cNvSpPr txBox="1"/>
          <p:nvPr/>
        </p:nvSpPr>
        <p:spPr>
          <a:xfrm>
            <a:off x="1912774" y="2859213"/>
            <a:ext cx="80511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imes New Roman" panose="02020603050405020304"/>
                <a:cs typeface="Times New Roman" panose="02020603050405020304"/>
              </a:rPr>
              <a:t>30</a:t>
            </a:r>
            <a:r>
              <a:rPr sz="4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ta</a:t>
            </a:r>
            <a:r>
              <a:rPr sz="4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o‘zaro</a:t>
            </a:r>
            <a:r>
              <a:rPr sz="4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bog‘langan</a:t>
            </a:r>
            <a:r>
              <a:rPr sz="4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jadval</a:t>
            </a:r>
            <a:r>
              <a:rPr sz="4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yaratildi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95801" y="2866228"/>
            <a:ext cx="1847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844" dirty="0">
                <a:solidFill>
                  <a:srgbClr val="6FA1BD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9845" y="4107714"/>
            <a:ext cx="7614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Bank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jarayonlari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yagona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bazaga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jamlandi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5617" y="4148970"/>
            <a:ext cx="2654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5" dirty="0">
                <a:solidFill>
                  <a:srgbClr val="6FA1BD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32483" y="5318112"/>
            <a:ext cx="7603490" cy="1261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1620" marR="5080" indent="-2789555">
              <a:lnSpc>
                <a:spcPct val="116000"/>
              </a:lnSpc>
              <a:spcBef>
                <a:spcPts val="95"/>
              </a:spcBef>
            </a:pPr>
            <a:r>
              <a:rPr sz="3500" dirty="0">
                <a:latin typeface="Times New Roman" panose="02020603050405020304"/>
                <a:cs typeface="Times New Roman" panose="02020603050405020304"/>
              </a:rPr>
              <a:t>Ma</a:t>
            </a:r>
            <a:r>
              <a:rPr lang="en-US" altLang="" sz="3500" dirty="0">
                <a:latin typeface="Times New Roman" panose="02020603050405020304"/>
                <a:cs typeface="Times New Roman" panose="02020603050405020304"/>
              </a:rPr>
              <a:t>‘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lumotlar</a:t>
            </a:r>
            <a:r>
              <a:rPr sz="35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PK,</a:t>
            </a:r>
            <a:r>
              <a:rPr sz="35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FK</a:t>
            </a:r>
            <a:r>
              <a:rPr sz="35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va</a:t>
            </a:r>
            <a:r>
              <a:rPr sz="35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constraintlar</a:t>
            </a:r>
            <a:r>
              <a:rPr sz="35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-10" dirty="0">
                <a:latin typeface="Times New Roman" panose="02020603050405020304"/>
                <a:cs typeface="Times New Roman" panose="02020603050405020304"/>
              </a:rPr>
              <a:t>bilan boshqarildi</a:t>
            </a:r>
            <a:endParaRPr sz="3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55171" y="5433245"/>
            <a:ext cx="2660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0" dirty="0">
                <a:solidFill>
                  <a:srgbClr val="6FA1BD"/>
                </a:solidFill>
                <a:latin typeface="Tahoma" panose="020B0604030504040204"/>
                <a:cs typeface="Tahoma" panose="020B0604030504040204"/>
              </a:rPr>
              <a:t>3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39881" y="7107374"/>
            <a:ext cx="7814309" cy="1263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1600" marR="5080" indent="-2629535">
              <a:lnSpc>
                <a:spcPct val="116000"/>
              </a:lnSpc>
              <a:spcBef>
                <a:spcPts val="95"/>
              </a:spcBef>
            </a:pPr>
            <a:r>
              <a:rPr sz="3500" dirty="0">
                <a:latin typeface="Times New Roman" panose="02020603050405020304"/>
                <a:cs typeface="Times New Roman" panose="02020603050405020304"/>
              </a:rPr>
              <a:t>Bank</a:t>
            </a:r>
            <a:r>
              <a:rPr sz="3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faoliyatini</a:t>
            </a:r>
            <a:r>
              <a:rPr sz="3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tahlil</a:t>
            </a:r>
            <a:r>
              <a:rPr sz="3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qilish</a:t>
            </a:r>
            <a:r>
              <a:rPr sz="35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uchun</a:t>
            </a:r>
            <a:r>
              <a:rPr sz="3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3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ta</a:t>
            </a:r>
            <a:r>
              <a:rPr sz="35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-25" dirty="0">
                <a:latin typeface="Times New Roman" panose="02020603050405020304"/>
                <a:cs typeface="Times New Roman" panose="02020603050405020304"/>
              </a:rPr>
              <a:t>KPI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ishlab</a:t>
            </a:r>
            <a:r>
              <a:rPr sz="35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-10" dirty="0">
                <a:latin typeface="Times New Roman" panose="02020603050405020304"/>
                <a:cs typeface="Times New Roman" panose="02020603050405020304"/>
              </a:rPr>
              <a:t>chiqildi</a:t>
            </a:r>
            <a:endParaRPr sz="3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35526" y="7300515"/>
            <a:ext cx="3054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10" dirty="0">
                <a:solidFill>
                  <a:srgbClr val="6FA1BD"/>
                </a:solidFill>
                <a:latin typeface="Tahoma" panose="020B0604030504040204"/>
                <a:cs typeface="Tahoma" panose="020B0604030504040204"/>
              </a:rPr>
              <a:t>4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96181" y="8677540"/>
            <a:ext cx="7476490" cy="1263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9570" marR="5080" indent="-1627505">
              <a:lnSpc>
                <a:spcPct val="116000"/>
              </a:lnSpc>
              <a:spcBef>
                <a:spcPts val="95"/>
              </a:spcBef>
            </a:pPr>
            <a:r>
              <a:rPr sz="3500" dirty="0">
                <a:latin typeface="Times New Roman" panose="02020603050405020304"/>
                <a:cs typeface="Times New Roman" panose="02020603050405020304"/>
              </a:rPr>
              <a:t>Tizim</a:t>
            </a:r>
            <a:r>
              <a:rPr sz="35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keyinchalik</a:t>
            </a:r>
            <a:r>
              <a:rPr sz="35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dashboard</a:t>
            </a:r>
            <a:r>
              <a:rPr sz="35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va</a:t>
            </a:r>
            <a:r>
              <a:rPr sz="35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BI</a:t>
            </a:r>
            <a:r>
              <a:rPr sz="35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-10" dirty="0">
                <a:latin typeface="Times New Roman" panose="02020603050405020304"/>
                <a:cs typeface="Times New Roman" panose="02020603050405020304"/>
              </a:rPr>
              <a:t>uchun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tayyor</a:t>
            </a:r>
            <a:r>
              <a:rPr sz="3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latin typeface="Times New Roman" panose="02020603050405020304"/>
                <a:cs typeface="Times New Roman" panose="02020603050405020304"/>
              </a:rPr>
              <a:t>holatga</a:t>
            </a:r>
            <a:r>
              <a:rPr sz="35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-10" dirty="0">
                <a:latin typeface="Times New Roman" panose="02020603050405020304"/>
                <a:cs typeface="Times New Roman" panose="02020603050405020304"/>
              </a:rPr>
              <a:t>keltirildi</a:t>
            </a:r>
            <a:endParaRPr sz="3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54576" y="8977387"/>
            <a:ext cx="2673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90" dirty="0">
                <a:solidFill>
                  <a:srgbClr val="6FA1BD"/>
                </a:solidFill>
                <a:latin typeface="Tahoma" panose="020B0604030504040204"/>
                <a:cs typeface="Tahoma" panose="020B0604030504040204"/>
              </a:rPr>
              <a:t>5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7637" y="2221511"/>
            <a:ext cx="7381875" cy="7724775"/>
            <a:chOff x="1727637" y="2221511"/>
            <a:chExt cx="7381875" cy="7724775"/>
          </a:xfrm>
        </p:grpSpPr>
        <p:sp>
          <p:nvSpPr>
            <p:cNvPr id="3" name="object 3"/>
            <p:cNvSpPr/>
            <p:nvPr/>
          </p:nvSpPr>
          <p:spPr>
            <a:xfrm>
              <a:off x="1765737" y="2259611"/>
              <a:ext cx="7305675" cy="7648575"/>
            </a:xfrm>
            <a:custGeom>
              <a:avLst/>
              <a:gdLst/>
              <a:ahLst/>
              <a:cxnLst/>
              <a:rect l="l" t="t" r="r" b="b"/>
              <a:pathLst>
                <a:path w="7305675" h="7648575">
                  <a:moveTo>
                    <a:pt x="485768" y="0"/>
                  </a:moveTo>
                  <a:lnTo>
                    <a:pt x="6819906" y="0"/>
                  </a:lnTo>
                  <a:lnTo>
                    <a:pt x="6867918" y="2376"/>
                  </a:lnTo>
                  <a:lnTo>
                    <a:pt x="6915117" y="9420"/>
                  </a:lnTo>
                  <a:lnTo>
                    <a:pt x="6961184" y="20997"/>
                  </a:lnTo>
                  <a:lnTo>
                    <a:pt x="7005801" y="36976"/>
                  </a:lnTo>
                  <a:lnTo>
                    <a:pt x="7048649" y="57226"/>
                  </a:lnTo>
                  <a:lnTo>
                    <a:pt x="7089410" y="81614"/>
                  </a:lnTo>
                  <a:lnTo>
                    <a:pt x="7127765" y="110009"/>
                  </a:lnTo>
                  <a:lnTo>
                    <a:pt x="7163396" y="142278"/>
                  </a:lnTo>
                  <a:lnTo>
                    <a:pt x="7195665" y="177908"/>
                  </a:lnTo>
                  <a:lnTo>
                    <a:pt x="7224059" y="216263"/>
                  </a:lnTo>
                  <a:lnTo>
                    <a:pt x="7248447" y="257024"/>
                  </a:lnTo>
                  <a:lnTo>
                    <a:pt x="7268697" y="299872"/>
                  </a:lnTo>
                  <a:lnTo>
                    <a:pt x="7284677" y="344489"/>
                  </a:lnTo>
                  <a:lnTo>
                    <a:pt x="7296254" y="390557"/>
                  </a:lnTo>
                  <a:lnTo>
                    <a:pt x="7303297" y="437756"/>
                  </a:lnTo>
                  <a:lnTo>
                    <a:pt x="7305674" y="485768"/>
                  </a:lnTo>
                  <a:lnTo>
                    <a:pt x="7305674" y="7162423"/>
                  </a:lnTo>
                  <a:lnTo>
                    <a:pt x="7303297" y="7210435"/>
                  </a:lnTo>
                  <a:lnTo>
                    <a:pt x="7296254" y="7257635"/>
                  </a:lnTo>
                  <a:lnTo>
                    <a:pt x="7284677" y="7303702"/>
                  </a:lnTo>
                  <a:lnTo>
                    <a:pt x="7268697" y="7348319"/>
                  </a:lnTo>
                  <a:lnTo>
                    <a:pt x="7248447" y="7391167"/>
                  </a:lnTo>
                  <a:lnTo>
                    <a:pt x="7224059" y="7431928"/>
                  </a:lnTo>
                  <a:lnTo>
                    <a:pt x="7195665" y="7470283"/>
                  </a:lnTo>
                  <a:lnTo>
                    <a:pt x="7163396" y="7505913"/>
                  </a:lnTo>
                  <a:lnTo>
                    <a:pt x="7127765" y="7538182"/>
                  </a:lnTo>
                  <a:lnTo>
                    <a:pt x="7089410" y="7566577"/>
                  </a:lnTo>
                  <a:lnTo>
                    <a:pt x="7048649" y="7590965"/>
                  </a:lnTo>
                  <a:lnTo>
                    <a:pt x="7005801" y="7611215"/>
                  </a:lnTo>
                  <a:lnTo>
                    <a:pt x="6961184" y="7627194"/>
                  </a:lnTo>
                  <a:lnTo>
                    <a:pt x="6915117" y="7638772"/>
                  </a:lnTo>
                  <a:lnTo>
                    <a:pt x="6867918" y="7645815"/>
                  </a:lnTo>
                  <a:lnTo>
                    <a:pt x="6819906" y="7648192"/>
                  </a:lnTo>
                  <a:lnTo>
                    <a:pt x="485768" y="7648192"/>
                  </a:lnTo>
                  <a:lnTo>
                    <a:pt x="437756" y="7645815"/>
                  </a:lnTo>
                  <a:lnTo>
                    <a:pt x="390557" y="7638772"/>
                  </a:lnTo>
                  <a:lnTo>
                    <a:pt x="344490" y="7627194"/>
                  </a:lnTo>
                  <a:lnTo>
                    <a:pt x="299872" y="7611215"/>
                  </a:lnTo>
                  <a:lnTo>
                    <a:pt x="257024" y="7590965"/>
                  </a:lnTo>
                  <a:lnTo>
                    <a:pt x="216263" y="7566577"/>
                  </a:lnTo>
                  <a:lnTo>
                    <a:pt x="177908" y="7538182"/>
                  </a:lnTo>
                  <a:lnTo>
                    <a:pt x="142278" y="7505913"/>
                  </a:lnTo>
                  <a:lnTo>
                    <a:pt x="110009" y="7470283"/>
                  </a:lnTo>
                  <a:lnTo>
                    <a:pt x="81614" y="7431928"/>
                  </a:lnTo>
                  <a:lnTo>
                    <a:pt x="57226" y="7391167"/>
                  </a:lnTo>
                  <a:lnTo>
                    <a:pt x="36976" y="7348319"/>
                  </a:lnTo>
                  <a:lnTo>
                    <a:pt x="20997" y="7303702"/>
                  </a:lnTo>
                  <a:lnTo>
                    <a:pt x="9420" y="7257634"/>
                  </a:lnTo>
                  <a:lnTo>
                    <a:pt x="2377" y="7210435"/>
                  </a:lnTo>
                  <a:lnTo>
                    <a:pt x="0" y="7162423"/>
                  </a:lnTo>
                  <a:lnTo>
                    <a:pt x="0" y="485768"/>
                  </a:lnTo>
                  <a:lnTo>
                    <a:pt x="2377" y="437756"/>
                  </a:lnTo>
                  <a:lnTo>
                    <a:pt x="9420" y="390557"/>
                  </a:lnTo>
                  <a:lnTo>
                    <a:pt x="20997" y="344490"/>
                  </a:lnTo>
                  <a:lnTo>
                    <a:pt x="36976" y="299873"/>
                  </a:lnTo>
                  <a:lnTo>
                    <a:pt x="57226" y="257024"/>
                  </a:lnTo>
                  <a:lnTo>
                    <a:pt x="81614" y="216263"/>
                  </a:lnTo>
                  <a:lnTo>
                    <a:pt x="110009" y="177908"/>
                  </a:lnTo>
                  <a:lnTo>
                    <a:pt x="142278" y="142278"/>
                  </a:lnTo>
                  <a:lnTo>
                    <a:pt x="177909" y="110009"/>
                  </a:lnTo>
                  <a:lnTo>
                    <a:pt x="216264" y="81614"/>
                  </a:lnTo>
                  <a:lnTo>
                    <a:pt x="257024" y="57226"/>
                  </a:lnTo>
                  <a:lnTo>
                    <a:pt x="299873" y="36976"/>
                  </a:lnTo>
                  <a:lnTo>
                    <a:pt x="344490" y="20997"/>
                  </a:lnTo>
                  <a:lnTo>
                    <a:pt x="390557" y="9420"/>
                  </a:lnTo>
                  <a:lnTo>
                    <a:pt x="437756" y="2377"/>
                  </a:lnTo>
                  <a:lnTo>
                    <a:pt x="485768" y="0"/>
                  </a:lnTo>
                </a:path>
              </a:pathLst>
            </a:custGeom>
            <a:ln w="76199">
              <a:solidFill>
                <a:srgbClr val="EFF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90126" y="7976426"/>
              <a:ext cx="7281545" cy="0"/>
            </a:xfrm>
            <a:custGeom>
              <a:avLst/>
              <a:gdLst/>
              <a:ahLst/>
              <a:cxnLst/>
              <a:rect l="l" t="t" r="r" b="b"/>
              <a:pathLst>
                <a:path w="7281545">
                  <a:moveTo>
                    <a:pt x="0" y="0"/>
                  </a:moveTo>
                  <a:lnTo>
                    <a:pt x="7281378" y="0"/>
                  </a:lnTo>
                </a:path>
              </a:pathLst>
            </a:custGeom>
            <a:ln w="38099">
              <a:solidFill>
                <a:srgbClr val="EFF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65737" y="3818822"/>
              <a:ext cx="7306309" cy="0"/>
            </a:xfrm>
            <a:custGeom>
              <a:avLst/>
              <a:gdLst/>
              <a:ahLst/>
              <a:cxnLst/>
              <a:rect l="l" t="t" r="r" b="b"/>
              <a:pathLst>
                <a:path w="7306309">
                  <a:moveTo>
                    <a:pt x="0" y="0"/>
                  </a:moveTo>
                  <a:lnTo>
                    <a:pt x="7305768" y="0"/>
                  </a:lnTo>
                </a:path>
              </a:pathLst>
            </a:custGeom>
            <a:ln w="38099">
              <a:solidFill>
                <a:srgbClr val="EFF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50501" y="420744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4" h="1015365">
                <a:moveTo>
                  <a:pt x="1015098" y="0"/>
                </a:moveTo>
                <a:lnTo>
                  <a:pt x="942533" y="0"/>
                </a:lnTo>
                <a:lnTo>
                  <a:pt x="942533" y="891228"/>
                </a:lnTo>
                <a:lnTo>
                  <a:pt x="51651" y="354"/>
                </a:lnTo>
                <a:lnTo>
                  <a:pt x="345" y="51660"/>
                </a:lnTo>
                <a:lnTo>
                  <a:pt x="891226" y="942533"/>
                </a:lnTo>
                <a:lnTo>
                  <a:pt x="0" y="942533"/>
                </a:lnTo>
                <a:lnTo>
                  <a:pt x="0" y="1015098"/>
                </a:lnTo>
                <a:lnTo>
                  <a:pt x="1015098" y="1015098"/>
                </a:lnTo>
                <a:lnTo>
                  <a:pt x="1015098" y="0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381505" y="420744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0" y="0"/>
                </a:moveTo>
                <a:lnTo>
                  <a:pt x="72565" y="0"/>
                </a:lnTo>
                <a:lnTo>
                  <a:pt x="72565" y="891228"/>
                </a:lnTo>
                <a:lnTo>
                  <a:pt x="963447" y="354"/>
                </a:lnTo>
                <a:lnTo>
                  <a:pt x="1014753" y="51660"/>
                </a:lnTo>
                <a:lnTo>
                  <a:pt x="123872" y="942533"/>
                </a:lnTo>
                <a:lnTo>
                  <a:pt x="1015098" y="942533"/>
                </a:lnTo>
                <a:lnTo>
                  <a:pt x="1015098" y="1015098"/>
                </a:lnTo>
                <a:lnTo>
                  <a:pt x="0" y="1015098"/>
                </a:lnTo>
                <a:lnTo>
                  <a:pt x="0" y="0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65737" y="5143500"/>
            <a:ext cx="7306309" cy="17145"/>
          </a:xfrm>
          <a:custGeom>
            <a:avLst/>
            <a:gdLst/>
            <a:ahLst/>
            <a:cxnLst/>
            <a:rect l="l" t="t" r="r" b="b"/>
            <a:pathLst>
              <a:path w="7306309" h="17145">
                <a:moveTo>
                  <a:pt x="0" y="17078"/>
                </a:moveTo>
                <a:lnTo>
                  <a:pt x="7305768" y="0"/>
                </a:lnTo>
              </a:path>
            </a:pathLst>
          </a:custGeom>
          <a:ln w="38099">
            <a:solidFill>
              <a:srgbClr val="EFF1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01805" y="3188903"/>
            <a:ext cx="5362574" cy="5572124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31" rIns="0" bIns="0" rtlCol="0">
            <a:spAutoFit/>
          </a:bodyPr>
          <a:lstStyle/>
          <a:p>
            <a:pPr marL="2961005">
              <a:lnSpc>
                <a:spcPct val="100000"/>
              </a:lnSpc>
              <a:spcBef>
                <a:spcPts val="100"/>
              </a:spcBef>
            </a:pPr>
            <a:r>
              <a:rPr dirty="0"/>
              <a:t>Kelajakdagi</a:t>
            </a:r>
            <a:r>
              <a:rPr spc="-254" dirty="0"/>
              <a:t> </a:t>
            </a:r>
            <a:r>
              <a:rPr spc="-10" dirty="0"/>
              <a:t>maqsadlar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77365" y="2341245"/>
            <a:ext cx="7306945" cy="71843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77165" marR="193675" algn="ctr">
              <a:lnSpc>
                <a:spcPct val="115000"/>
              </a:lnSpc>
              <a:spcBef>
                <a:spcPts val="100"/>
              </a:spcBef>
            </a:pPr>
            <a:r>
              <a:rPr sz="3800" dirty="0">
                <a:latin typeface="Times New Roman" panose="02020603050405020304"/>
                <a:cs typeface="Times New Roman" panose="02020603050405020304"/>
              </a:rPr>
              <a:t>Ma</a:t>
            </a:r>
            <a:r>
              <a:rPr lang="en-US" altLang="" sz="3800" dirty="0">
                <a:latin typeface="Times New Roman" panose="02020603050405020304"/>
                <a:cs typeface="Times New Roman" panose="02020603050405020304"/>
              </a:rPr>
              <a:t>‘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lumotlar</a:t>
            </a:r>
            <a:r>
              <a:rPr sz="38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sifatini</a:t>
            </a:r>
            <a:r>
              <a:rPr sz="38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doimiy</a:t>
            </a:r>
            <a:r>
              <a:rPr sz="38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nazorat qilish</a:t>
            </a:r>
            <a:endParaRPr sz="3800" dirty="0">
              <a:latin typeface="Times New Roman" panose="02020603050405020304"/>
              <a:cs typeface="Times New Roman" panose="02020603050405020304"/>
            </a:endParaRPr>
          </a:p>
          <a:p>
            <a:pPr marL="991235" marR="1295400" algn="ctr">
              <a:lnSpc>
                <a:spcPct val="115000"/>
              </a:lnSpc>
              <a:spcBef>
                <a:spcPts val="65"/>
              </a:spcBef>
            </a:pPr>
            <a:r>
              <a:rPr sz="3800" dirty="0">
                <a:latin typeface="Times New Roman" panose="02020603050405020304"/>
                <a:cs typeface="Times New Roman" panose="02020603050405020304"/>
              </a:rPr>
              <a:t>Fraud</a:t>
            </a:r>
            <a:r>
              <a:rPr sz="3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monitoring</a:t>
            </a:r>
            <a:r>
              <a:rPr sz="3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tizimini kuchaytirish</a:t>
            </a:r>
            <a:endParaRPr sz="3800" dirty="0">
              <a:latin typeface="Times New Roman" panose="02020603050405020304"/>
              <a:cs typeface="Times New Roman" panose="02020603050405020304"/>
            </a:endParaRPr>
          </a:p>
          <a:p>
            <a:pPr marR="352425" algn="ctr">
              <a:lnSpc>
                <a:spcPct val="100000"/>
              </a:lnSpc>
              <a:spcBef>
                <a:spcPts val="1430"/>
              </a:spcBef>
            </a:pPr>
            <a:r>
              <a:rPr sz="3800" dirty="0">
                <a:latin typeface="Times New Roman" panose="02020603050405020304"/>
                <a:cs typeface="Times New Roman" panose="02020603050405020304"/>
              </a:rPr>
              <a:t>KPI</a:t>
            </a:r>
            <a:r>
              <a:rPr sz="3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va</a:t>
            </a:r>
            <a:r>
              <a:rPr sz="3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analitik</a:t>
            </a:r>
            <a:endParaRPr sz="3800" dirty="0">
              <a:latin typeface="Times New Roman" panose="02020603050405020304"/>
              <a:cs typeface="Times New Roman" panose="02020603050405020304"/>
            </a:endParaRPr>
          </a:p>
          <a:p>
            <a:pPr marL="12065" marR="5080" algn="ctr">
              <a:lnSpc>
                <a:spcPct val="113000"/>
              </a:lnSpc>
              <a:spcBef>
                <a:spcPts val="115"/>
              </a:spcBef>
              <a:tabLst>
                <a:tab pos="1067435" algn="l"/>
                <a:tab pos="7292975" algn="l"/>
              </a:tabLst>
            </a:pPr>
            <a:r>
              <a:rPr sz="3800" u="heavy" dirty="0">
                <a:uFill>
                  <a:solidFill>
                    <a:srgbClr val="EFF1E7"/>
                  </a:solidFill>
                </a:uFill>
                <a:latin typeface="Times New Roman" panose="02020603050405020304"/>
                <a:cs typeface="Times New Roman" panose="02020603050405020304"/>
              </a:rPr>
              <a:t>	hisobotlarni</a:t>
            </a:r>
            <a:r>
              <a:rPr sz="3800" u="heavy" spc="-80" dirty="0">
                <a:uFill>
                  <a:solidFill>
                    <a:srgbClr val="EFF1E7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u="heavy" spc="-10" dirty="0">
                <a:uFill>
                  <a:solidFill>
                    <a:srgbClr val="EFF1E7"/>
                  </a:solidFill>
                </a:uFill>
                <a:latin typeface="Times New Roman" panose="02020603050405020304"/>
                <a:cs typeface="Times New Roman" panose="02020603050405020304"/>
              </a:rPr>
              <a:t>kengaytirish</a:t>
            </a:r>
            <a:r>
              <a:rPr sz="3800" u="heavy" dirty="0">
                <a:uFill>
                  <a:solidFill>
                    <a:srgbClr val="EFF1E7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 Dashboard</a:t>
            </a:r>
            <a:r>
              <a:rPr sz="38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va</a:t>
            </a:r>
            <a:r>
              <a:rPr sz="38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BI</a:t>
            </a:r>
            <a:r>
              <a:rPr sz="38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tizimlarini</a:t>
            </a:r>
            <a:r>
              <a:rPr sz="38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joriy qilish</a:t>
            </a:r>
            <a:endParaRPr sz="3800" dirty="0">
              <a:latin typeface="Times New Roman" panose="02020603050405020304"/>
              <a:cs typeface="Times New Roman" panose="02020603050405020304"/>
            </a:endParaRPr>
          </a:p>
          <a:p>
            <a:pPr marL="1031875" marR="1336040" algn="ctr">
              <a:lnSpc>
                <a:spcPct val="105000"/>
              </a:lnSpc>
              <a:spcBef>
                <a:spcPts val="2685"/>
              </a:spcBef>
            </a:pPr>
            <a:r>
              <a:rPr sz="3800" dirty="0">
                <a:latin typeface="Times New Roman" panose="02020603050405020304"/>
                <a:cs typeface="Times New Roman" panose="02020603050405020304"/>
              </a:rPr>
              <a:t>Xavfsizlik</a:t>
            </a:r>
            <a:r>
              <a:rPr sz="3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va</a:t>
            </a:r>
            <a:r>
              <a:rPr sz="3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compliance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nazoratini</a:t>
            </a:r>
            <a:r>
              <a:rPr sz="38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rivojlantirish</a:t>
            </a:r>
            <a:endParaRPr sz="3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277</Words>
  <Application>Microsoft Office PowerPoint</Application>
  <PresentationFormat>Custom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Lucida Sans Unicode</vt:lpstr>
      <vt:lpstr>Tahoma</vt:lpstr>
      <vt:lpstr>Times New Roman</vt:lpstr>
      <vt:lpstr>Office Theme</vt:lpstr>
      <vt:lpstr>Banking System Project</vt:lpstr>
      <vt:lpstr>PROYEKT NIMA HAQIDA</vt:lpstr>
      <vt:lpstr>Loyihadagi asosiy muammolar</vt:lpstr>
      <vt:lpstr>SQL ORQALI YECHIM</vt:lpstr>
      <vt:lpstr>Qanaqa yechimlar topildi</vt:lpstr>
      <vt:lpstr>Kelajakdagi maqsadlar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System Project</dc:title>
  <dc:creator>Habibullo Xayrullayev</dc:creator>
  <cp:keywords>DAHNj1TLnuI,BAHNj1G5oNY,0</cp:keywords>
  <cp:lastModifiedBy>Habibullo Xayrullayev</cp:lastModifiedBy>
  <cp:revision>3</cp:revision>
  <dcterms:created xsi:type="dcterms:W3CDTF">2026-06-25T12:54:34Z</dcterms:created>
  <dcterms:modified xsi:type="dcterms:W3CDTF">2026-06-25T13:56:30Z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2026-06-25T05:00:00Z</vt:filetime>
  </property>
  <property fmtid="{D5CDD505-2E9C-101B-9397-08002B2CF9AE}" pid="4" name="Creator">
    <vt:lpwstr>Canva</vt:lpwstr>
  </property>
  <property fmtid="{D5CDD505-2E9C-101B-9397-08002B2CF9AE}" pid="5" name="LastSaved">
    <vt:filetime>2026-06-25T05:00:00Z</vt:filetime>
  </property>
  <property fmtid="{D5CDD505-2E9C-101B-9397-08002B2CF9AE}" pid="6" name="Producer">
    <vt:lpwstr>Canva</vt:lpwstr>
  </property>
  <property fmtid="{D5CDD505-2E9C-101B-9397-08002B2CF9AE}" pid="7" name="ICV">
    <vt:lpwstr>4810508D87C64C9A903C3F5D4BBDFBEB_12</vt:lpwstr>
  </property>
  <property fmtid="{D5CDD505-2E9C-101B-9397-08002B2CF9AE}" pid="8" name="KSOProductBuildVer">
    <vt:lpwstr>1033-12.2.0.21546</vt:lpwstr>
  </property>
</Properties>
</file>